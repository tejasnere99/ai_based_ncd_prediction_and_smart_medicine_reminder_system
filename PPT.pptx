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26"/>
  </p:notes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71" r:id="rId25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E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41821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NJIVANI_TEAL_MASTER">
  <p:cSld name="SANJIVANI_TEAL_MASTER">
    <p:bg>
      <p:bgPr>
        <a:solidFill>
          <a:srgbClr val="FFFFFF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/>
          <p:nvPr/>
        </p:nvSpPr>
        <p:spPr>
          <a:xfrm>
            <a:off x="0" y="4869178"/>
            <a:ext cx="9144000" cy="274321"/>
          </a:xfrm>
          <a:prstGeom prst="rect">
            <a:avLst/>
          </a:prstGeom>
          <a:solidFill>
            <a:srgbClr val="006E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2"/>
          <p:cNvSpPr/>
          <p:nvPr/>
        </p:nvSpPr>
        <p:spPr>
          <a:xfrm>
            <a:off x="164592" y="4939048"/>
            <a:ext cx="8206666" cy="167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DFE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B2DFE6"/>
                </a:solidFill>
                <a:latin typeface="Calibri"/>
                <a:ea typeface="Calibri"/>
                <a:cs typeface="Calibri"/>
                <a:sym typeface="Calibri"/>
              </a:rPr>
              <a:t>SANJIVANI UNIVERSITY  |  Online Education Division       I Course Name                                                Programme Name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365760" y="13716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body" idx="1"/>
          </p:nvPr>
        </p:nvSpPr>
        <p:spPr>
          <a:xfrm>
            <a:off x="365760" y="1005840"/>
            <a:ext cx="841248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83309" y="4888495"/>
            <a:ext cx="548640" cy="22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6858"/>
            <a:ext cx="9144000" cy="882396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006E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0" y="891540"/>
            <a:ext cx="9144000" cy="64008"/>
          </a:xfrm>
          <a:prstGeom prst="rect">
            <a:avLst/>
          </a:prstGeom>
          <a:solidFill>
            <a:srgbClr val="F7A600"/>
          </a:solidFill>
          <a:ln w="12700" cap="flat" cmpd="sng">
            <a:solidFill>
              <a:srgbClr val="F7A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6053328" y="3017520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-10246" y="4865912"/>
            <a:ext cx="9144000" cy="282328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006E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172634" y="4890036"/>
            <a:ext cx="8778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www.sanjivanicoe.org.in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 txBox="1"/>
          <p:nvPr/>
        </p:nvSpPr>
        <p:spPr>
          <a:xfrm>
            <a:off x="1118506" y="2076681"/>
            <a:ext cx="7013123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Non-Communicable Disease Prediction and Smart Medicine Reminder System using IoT</a:t>
            </a:r>
            <a:endParaRPr lang="en-US" sz="2600" b="1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1750700" y="3306470"/>
            <a:ext cx="5622107" cy="1430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lang="en-US" sz="1600" i="1" dirty="0">
                <a:solidFill>
                  <a:schemeClr val="dk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Submitted By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Clr>
                <a:schemeClr val="dk2"/>
              </a:buClr>
              <a:buSzPts val="1600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Wakchaure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Shruti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 | 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Shinde Chanchal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ctr">
              <a:buClr>
                <a:schemeClr val="dk2"/>
              </a:buClr>
              <a:buSzPts val="1600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| 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Nere Tejas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 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Gidhad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Arti</a:t>
            </a:r>
          </a:p>
          <a:p>
            <a:pPr lvl="0" algn="ctr">
              <a:buClr>
                <a:schemeClr val="dk2"/>
              </a:buClr>
              <a:buSzPts val="1600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Clr>
                <a:schemeClr val="dk2"/>
              </a:buClr>
              <a:buSzPts val="1600"/>
            </a:pPr>
            <a:r>
              <a:rPr lang="en-US" sz="1400" i="1" dirty="0">
                <a:solidFill>
                  <a:schemeClr val="dk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Under the Guidance of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chemeClr val="dk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Prof. N.Y. Siddiqui</a:t>
            </a:r>
          </a:p>
        </p:txBody>
      </p:sp>
      <p:sp>
        <p:nvSpPr>
          <p:cNvPr id="26" name="Google Shape;26;p4"/>
          <p:cNvSpPr/>
          <p:nvPr/>
        </p:nvSpPr>
        <p:spPr>
          <a:xfrm>
            <a:off x="-10246" y="4852371"/>
            <a:ext cx="9144000" cy="25603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0" y="-7672"/>
            <a:ext cx="9133754" cy="4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Sanjivani College of Engineering, </a:t>
            </a:r>
            <a:r>
              <a:rPr lang="en-US" sz="2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Kopargaon</a:t>
            </a:r>
            <a:endParaRPr sz="28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0" y="441240"/>
            <a:ext cx="9133754" cy="368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DFE6"/>
              </a:buClr>
              <a:buSzPts val="1600"/>
              <a:buFont typeface="Calibri"/>
              <a:buNone/>
            </a:pPr>
            <a:r>
              <a:rPr lang="en-US" sz="1200" i="1" dirty="0">
                <a:solidFill>
                  <a:srgbClr val="B2DFE6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          (An Autonomous Institute, Affiliated to SPPU, Pune)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DFE6"/>
              </a:buClr>
              <a:buSzPts val="1800"/>
              <a:buFont typeface="Calibri"/>
              <a:buNone/>
            </a:pPr>
            <a:r>
              <a:rPr lang="en-US" i="1" dirty="0">
                <a:solidFill>
                  <a:srgbClr val="B2DFE6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Computer Engineering, NBA Tier-1 Accredited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9" name="Google Shape;29;p4" descr="C:\Users\Icon\Desktop\Reprt 1\COE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634" y="6858"/>
            <a:ext cx="713970" cy="897114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933855" y="1097443"/>
            <a:ext cx="7258131" cy="505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6E7F"/>
              </a:buClr>
              <a:buSzPts val="2400"/>
              <a:buFont typeface="Calibri"/>
              <a:buNone/>
            </a:pPr>
            <a:r>
              <a:rPr lang="en-US" sz="2400" b="1" dirty="0">
                <a:solidFill>
                  <a:srgbClr val="006E7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IoT</a:t>
            </a:r>
            <a:r>
              <a:rPr lang="en-IN" sz="2400" b="1" dirty="0">
                <a:solidFill>
                  <a:srgbClr val="006E7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(MDCO321)</a:t>
            </a:r>
            <a:r>
              <a:rPr lang="en-US" sz="2400" b="1" dirty="0">
                <a:solidFill>
                  <a:srgbClr val="006E7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Project Presentation</a:t>
            </a:r>
            <a:endParaRPr sz="2400" b="1" dirty="0">
              <a:solidFill>
                <a:srgbClr val="006E7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01444" y="1718106"/>
            <a:ext cx="8482361" cy="28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C55A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T.Y. B. Tech – Computer Engineering | AY [ 2026–2027 ] | Div-A</a:t>
            </a:r>
            <a:endParaRPr dirty="0">
              <a:solidFill>
                <a:srgbClr val="C55A1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Index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ntent Panel"/>
          <p:cNvSpPr/>
          <p:nvPr/>
        </p:nvSpPr>
        <p:spPr>
          <a:xfrm>
            <a:off x="182880" y="804672"/>
            <a:ext cx="8778240" cy="3840480"/>
          </a:xfrm>
          <a:prstGeom prst="rect">
            <a:avLst/>
          </a:prstGeom>
          <a:solidFill>
            <a:srgbClr val="F7F8FC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8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8686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6E7F"/>
                </a:solidFill>
                <a:latin typeface="Calibri"/>
              </a:rPr>
              <a:t>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868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006E7F"/>
                </a:solidFill>
                <a:latin typeface="Calibri"/>
              </a:rPr>
              <a:t>SLIDE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8686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6E7F"/>
                </a:solidFill>
                <a:latin typeface="Calibri"/>
              </a:rPr>
              <a:t>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868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006E7F"/>
                </a:solidFill>
                <a:latin typeface="Calibri"/>
              </a:rPr>
              <a:t>SLIDE</a:t>
            </a:r>
          </a:p>
        </p:txBody>
      </p:sp>
      <p:sp>
        <p:nvSpPr>
          <p:cNvPr id="14" name="Index Row"/>
          <p:cNvSpPr/>
          <p:nvPr/>
        </p:nvSpPr>
        <p:spPr>
          <a:xfrm>
            <a:off x="365760" y="1115568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Badge"/>
          <p:cNvSpPr/>
          <p:nvPr/>
        </p:nvSpPr>
        <p:spPr>
          <a:xfrm>
            <a:off x="420624" y="1152144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1115568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Introduction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115568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3</a:t>
            </a:r>
          </a:p>
        </p:txBody>
      </p:sp>
      <p:sp>
        <p:nvSpPr>
          <p:cNvPr id="18" name="Index Row"/>
          <p:cNvSpPr/>
          <p:nvPr/>
        </p:nvSpPr>
        <p:spPr>
          <a:xfrm>
            <a:off x="365760" y="1467612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Badge"/>
          <p:cNvSpPr/>
          <p:nvPr/>
        </p:nvSpPr>
        <p:spPr>
          <a:xfrm>
            <a:off x="420624" y="1504188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146761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Literature Survey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1467612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4</a:t>
            </a:r>
          </a:p>
        </p:txBody>
      </p:sp>
      <p:sp>
        <p:nvSpPr>
          <p:cNvPr id="22" name="Index Row"/>
          <p:cNvSpPr/>
          <p:nvPr/>
        </p:nvSpPr>
        <p:spPr>
          <a:xfrm>
            <a:off x="365760" y="1819656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Badge"/>
          <p:cNvSpPr/>
          <p:nvPr/>
        </p:nvSpPr>
        <p:spPr>
          <a:xfrm>
            <a:off x="420624" y="1856231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1819656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Problem Definition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1819656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5</a:t>
            </a:r>
          </a:p>
        </p:txBody>
      </p:sp>
      <p:sp>
        <p:nvSpPr>
          <p:cNvPr id="26" name="Index Row"/>
          <p:cNvSpPr/>
          <p:nvPr/>
        </p:nvSpPr>
        <p:spPr>
          <a:xfrm>
            <a:off x="365760" y="2171700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Badge"/>
          <p:cNvSpPr/>
          <p:nvPr/>
        </p:nvSpPr>
        <p:spPr>
          <a:xfrm>
            <a:off x="420624" y="2208276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217170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Aim &amp; Objectives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2171700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6</a:t>
            </a:r>
          </a:p>
        </p:txBody>
      </p:sp>
      <p:sp>
        <p:nvSpPr>
          <p:cNvPr id="30" name="Index Row"/>
          <p:cNvSpPr/>
          <p:nvPr/>
        </p:nvSpPr>
        <p:spPr>
          <a:xfrm>
            <a:off x="365760" y="2523744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Badge"/>
          <p:cNvSpPr/>
          <p:nvPr/>
        </p:nvSpPr>
        <p:spPr>
          <a:xfrm>
            <a:off x="420624" y="2560320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2523744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Methodology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2523744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7</a:t>
            </a:r>
          </a:p>
        </p:txBody>
      </p:sp>
      <p:sp>
        <p:nvSpPr>
          <p:cNvPr id="34" name="Index Row"/>
          <p:cNvSpPr/>
          <p:nvPr/>
        </p:nvSpPr>
        <p:spPr>
          <a:xfrm>
            <a:off x="365760" y="2875788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Badge"/>
          <p:cNvSpPr/>
          <p:nvPr/>
        </p:nvSpPr>
        <p:spPr>
          <a:xfrm>
            <a:off x="420624" y="2912364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2875788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System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2875788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8</a:t>
            </a:r>
          </a:p>
        </p:txBody>
      </p:sp>
      <p:sp>
        <p:nvSpPr>
          <p:cNvPr id="38" name="Index Row"/>
          <p:cNvSpPr/>
          <p:nvPr/>
        </p:nvSpPr>
        <p:spPr>
          <a:xfrm>
            <a:off x="365760" y="3227832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Badge"/>
          <p:cNvSpPr/>
          <p:nvPr/>
        </p:nvSpPr>
        <p:spPr>
          <a:xfrm>
            <a:off x="420624" y="3264408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322783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System Working 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3227832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9</a:t>
            </a:r>
          </a:p>
        </p:txBody>
      </p:sp>
      <p:sp>
        <p:nvSpPr>
          <p:cNvPr id="42" name="Index Row"/>
          <p:cNvSpPr/>
          <p:nvPr/>
        </p:nvSpPr>
        <p:spPr>
          <a:xfrm>
            <a:off x="365760" y="3579876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Badge"/>
          <p:cNvSpPr/>
          <p:nvPr/>
        </p:nvSpPr>
        <p:spPr>
          <a:xfrm>
            <a:off x="420624" y="3616452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3579876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Hardware Components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3579876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10</a:t>
            </a:r>
          </a:p>
        </p:txBody>
      </p:sp>
      <p:sp>
        <p:nvSpPr>
          <p:cNvPr id="46" name="Index Row"/>
          <p:cNvSpPr/>
          <p:nvPr/>
        </p:nvSpPr>
        <p:spPr>
          <a:xfrm>
            <a:off x="365760" y="3931920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Badge"/>
          <p:cNvSpPr/>
          <p:nvPr/>
        </p:nvSpPr>
        <p:spPr>
          <a:xfrm>
            <a:off x="420624" y="3968496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39319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Software Requirements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0" y="3931920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11</a:t>
            </a:r>
          </a:p>
        </p:txBody>
      </p:sp>
      <p:sp>
        <p:nvSpPr>
          <p:cNvPr id="50" name="Index Row"/>
          <p:cNvSpPr/>
          <p:nvPr/>
        </p:nvSpPr>
        <p:spPr>
          <a:xfrm>
            <a:off x="365760" y="4283964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Badge"/>
          <p:cNvSpPr/>
          <p:nvPr/>
        </p:nvSpPr>
        <p:spPr>
          <a:xfrm>
            <a:off x="420624" y="4320540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8" y="4283964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Project Specifications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4283964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12</a:t>
            </a:r>
          </a:p>
        </p:txBody>
      </p:sp>
      <p:sp>
        <p:nvSpPr>
          <p:cNvPr id="54" name="Index Row"/>
          <p:cNvSpPr/>
          <p:nvPr/>
        </p:nvSpPr>
        <p:spPr>
          <a:xfrm>
            <a:off x="4754880" y="1115568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Badge"/>
          <p:cNvSpPr/>
          <p:nvPr/>
        </p:nvSpPr>
        <p:spPr>
          <a:xfrm>
            <a:off x="4809744" y="1152144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38928" y="1115568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Pin Configuration &amp; Slot Mapping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1115568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13</a:t>
            </a:r>
          </a:p>
        </p:txBody>
      </p:sp>
      <p:sp>
        <p:nvSpPr>
          <p:cNvPr id="58" name="Index Row"/>
          <p:cNvSpPr/>
          <p:nvPr/>
        </p:nvSpPr>
        <p:spPr>
          <a:xfrm>
            <a:off x="4754880" y="1467612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Badge"/>
          <p:cNvSpPr/>
          <p:nvPr/>
        </p:nvSpPr>
        <p:spPr>
          <a:xfrm>
            <a:off x="4809744" y="1504188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38928" y="146761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Prototype &amp; Sensor Placement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1467612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14</a:t>
            </a:r>
          </a:p>
        </p:txBody>
      </p:sp>
      <p:sp>
        <p:nvSpPr>
          <p:cNvPr id="62" name="Index Row"/>
          <p:cNvSpPr/>
          <p:nvPr/>
        </p:nvSpPr>
        <p:spPr>
          <a:xfrm>
            <a:off x="4754880" y="1819656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Badge"/>
          <p:cNvSpPr/>
          <p:nvPr/>
        </p:nvSpPr>
        <p:spPr>
          <a:xfrm>
            <a:off x="4809744" y="1856231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38928" y="1819656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Project Structure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1819656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15</a:t>
            </a:r>
          </a:p>
        </p:txBody>
      </p:sp>
      <p:sp>
        <p:nvSpPr>
          <p:cNvPr id="66" name="Index Row"/>
          <p:cNvSpPr/>
          <p:nvPr/>
        </p:nvSpPr>
        <p:spPr>
          <a:xfrm>
            <a:off x="4754880" y="2171700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Badge"/>
          <p:cNvSpPr/>
          <p:nvPr/>
        </p:nvSpPr>
        <p:spPr>
          <a:xfrm>
            <a:off x="4809744" y="2208276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38928" y="217170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IoT Communication &amp; Dashboard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2171700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16</a:t>
            </a:r>
          </a:p>
        </p:txBody>
      </p:sp>
      <p:sp>
        <p:nvSpPr>
          <p:cNvPr id="70" name="Index Row"/>
          <p:cNvSpPr/>
          <p:nvPr/>
        </p:nvSpPr>
        <p:spPr>
          <a:xfrm>
            <a:off x="4754880" y="2523744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Badge"/>
          <p:cNvSpPr/>
          <p:nvPr/>
        </p:nvSpPr>
        <p:spPr>
          <a:xfrm>
            <a:off x="4809744" y="2560320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38928" y="2523744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Implementation Status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0" y="2523744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17</a:t>
            </a:r>
          </a:p>
        </p:txBody>
      </p:sp>
      <p:sp>
        <p:nvSpPr>
          <p:cNvPr id="74" name="Index Row"/>
          <p:cNvSpPr/>
          <p:nvPr/>
        </p:nvSpPr>
        <p:spPr>
          <a:xfrm>
            <a:off x="4754880" y="2875788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Badge"/>
          <p:cNvSpPr/>
          <p:nvPr/>
        </p:nvSpPr>
        <p:spPr>
          <a:xfrm>
            <a:off x="4809744" y="2912364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38928" y="2875788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Testing &amp; Observations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0" y="2875788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18</a:t>
            </a:r>
          </a:p>
        </p:txBody>
      </p:sp>
      <p:sp>
        <p:nvSpPr>
          <p:cNvPr id="78" name="Index Row"/>
          <p:cNvSpPr/>
          <p:nvPr/>
        </p:nvSpPr>
        <p:spPr>
          <a:xfrm>
            <a:off x="4754880" y="3227832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Badge"/>
          <p:cNvSpPr/>
          <p:nvPr/>
        </p:nvSpPr>
        <p:spPr>
          <a:xfrm>
            <a:off x="4809744" y="3264408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38928" y="322783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Applications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0" y="3227832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19</a:t>
            </a:r>
          </a:p>
        </p:txBody>
      </p:sp>
      <p:sp>
        <p:nvSpPr>
          <p:cNvPr id="82" name="Index Row"/>
          <p:cNvSpPr/>
          <p:nvPr/>
        </p:nvSpPr>
        <p:spPr>
          <a:xfrm>
            <a:off x="4754880" y="3579876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Badge"/>
          <p:cNvSpPr/>
          <p:nvPr/>
        </p:nvSpPr>
        <p:spPr>
          <a:xfrm>
            <a:off x="4809744" y="3616452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38928" y="3579876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Advantages &amp; Limitations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0" y="3579876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20</a:t>
            </a:r>
          </a:p>
        </p:txBody>
      </p:sp>
      <p:sp>
        <p:nvSpPr>
          <p:cNvPr id="86" name="Index Row"/>
          <p:cNvSpPr/>
          <p:nvPr/>
        </p:nvSpPr>
        <p:spPr>
          <a:xfrm>
            <a:off x="4754880" y="3931920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Badge"/>
          <p:cNvSpPr/>
          <p:nvPr/>
        </p:nvSpPr>
        <p:spPr>
          <a:xfrm>
            <a:off x="4809744" y="3968496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38928" y="39319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Future Scope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29600" y="3931920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21</a:t>
            </a:r>
          </a:p>
        </p:txBody>
      </p:sp>
      <p:sp>
        <p:nvSpPr>
          <p:cNvPr id="90" name="Index Row"/>
          <p:cNvSpPr/>
          <p:nvPr/>
        </p:nvSpPr>
        <p:spPr>
          <a:xfrm>
            <a:off x="4754880" y="4283964"/>
            <a:ext cx="41605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Badge"/>
          <p:cNvSpPr/>
          <p:nvPr/>
        </p:nvSpPr>
        <p:spPr>
          <a:xfrm>
            <a:off x="4809744" y="4320540"/>
            <a:ext cx="237744" cy="23774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138928" y="4283964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Conclusion &amp; References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29600" y="4283964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ED7D31"/>
                </a:solidFill>
                <a:latin typeface="Calibri"/>
              </a:rPr>
              <a:t>22–23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Introduction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ntent Panel"/>
          <p:cNvSpPr/>
          <p:nvPr/>
        </p:nvSpPr>
        <p:spPr>
          <a:xfrm>
            <a:off x="182880" y="804672"/>
            <a:ext cx="8778240" cy="3840480"/>
          </a:xfrm>
          <a:prstGeom prst="rect">
            <a:avLst/>
          </a:prstGeom>
          <a:solidFill>
            <a:srgbClr val="F7F8FC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8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3</a:t>
            </a:r>
          </a:p>
        </p:txBody>
      </p:sp>
      <p:sp>
        <p:nvSpPr>
          <p:cNvPr id="10" name="Kicker"/>
          <p:cNvSpPr txBox="1"/>
          <p:nvPr/>
        </p:nvSpPr>
        <p:spPr>
          <a:xfrm>
            <a:off x="365760" y="85953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6E7F"/>
                </a:solidFill>
                <a:latin typeface="Calibri"/>
              </a:rPr>
              <a:t>01 · OVERVIEW</a:t>
            </a:r>
          </a:p>
        </p:txBody>
      </p:sp>
      <p:sp>
        <p:nvSpPr>
          <p:cNvPr id="11" name="Card"/>
          <p:cNvSpPr/>
          <p:nvPr/>
        </p:nvSpPr>
        <p:spPr>
          <a:xfrm>
            <a:off x="365760" y="1069848"/>
            <a:ext cx="5257800" cy="1188720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Card Header"/>
          <p:cNvSpPr/>
          <p:nvPr/>
        </p:nvSpPr>
        <p:spPr>
          <a:xfrm>
            <a:off x="365760" y="1069848"/>
            <a:ext cx="5257800" cy="274320"/>
          </a:xfrm>
          <a:prstGeom prst="rect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Card Title"/>
          <p:cNvSpPr txBox="1"/>
          <p:nvPr/>
        </p:nvSpPr>
        <p:spPr>
          <a:xfrm>
            <a:off x="457200" y="106984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UNDERSTANDING NON-COMMUNICABLE DISEASES</a:t>
            </a:r>
          </a:p>
        </p:txBody>
      </p:sp>
      <p:sp>
        <p:nvSpPr>
          <p:cNvPr id="14" name="Card Body"/>
          <p:cNvSpPr txBox="1"/>
          <p:nvPr/>
        </p:nvSpPr>
        <p:spPr>
          <a:xfrm>
            <a:off x="475488" y="1417320"/>
            <a:ext cx="5038344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Non-communicable diseases such as diabetes, hypertension, heart disease and kidney disease require regular medication and continuous monitoring over a long period of time.</a:t>
            </a:r>
          </a:p>
        </p:txBody>
      </p:sp>
      <p:sp>
        <p:nvSpPr>
          <p:cNvPr id="15" name="Card"/>
          <p:cNvSpPr/>
          <p:nvPr/>
        </p:nvSpPr>
        <p:spPr>
          <a:xfrm>
            <a:off x="365760" y="2350008"/>
            <a:ext cx="5257800" cy="1444752"/>
          </a:xfrm>
          <a:prstGeom prst="rect">
            <a:avLst/>
          </a:prstGeom>
          <a:solidFill>
            <a:srgbClr val="FDECEC"/>
          </a:solidFill>
          <a:ln w="9525">
            <a:solidFill>
              <a:srgbClr val="F4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Card Header"/>
          <p:cNvSpPr/>
          <p:nvPr/>
        </p:nvSpPr>
        <p:spPr>
          <a:xfrm>
            <a:off x="365760" y="2350008"/>
            <a:ext cx="5257800" cy="274320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Card Title"/>
          <p:cNvSpPr txBox="1"/>
          <p:nvPr/>
        </p:nvSpPr>
        <p:spPr>
          <a:xfrm>
            <a:off x="457200" y="235000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THE CHALLENGE WITH CURRENT PRACTICE</a:t>
            </a:r>
          </a:p>
        </p:txBody>
      </p:sp>
      <p:sp>
        <p:nvSpPr>
          <p:cNvPr id="18" name="Card Body"/>
          <p:cNvSpPr txBox="1"/>
          <p:nvPr/>
        </p:nvSpPr>
        <p:spPr>
          <a:xfrm>
            <a:off x="475488" y="2697479"/>
            <a:ext cx="5038344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Patients may forget medicines, family members cannot tell whether a dose was taken, and doctors lack continuous visibility into adherence and recovery. Medical reports are also hard for patients to understand and are analysed manually.</a:t>
            </a:r>
          </a:p>
        </p:txBody>
      </p:sp>
      <p:sp>
        <p:nvSpPr>
          <p:cNvPr id="19" name="Card"/>
          <p:cNvSpPr/>
          <p:nvPr/>
        </p:nvSpPr>
        <p:spPr>
          <a:xfrm>
            <a:off x="5806440" y="1069848"/>
            <a:ext cx="2971800" cy="2724912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Card Header"/>
          <p:cNvSpPr/>
          <p:nvPr/>
        </p:nvSpPr>
        <p:spPr>
          <a:xfrm>
            <a:off x="5806440" y="1069848"/>
            <a:ext cx="2971800" cy="2743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97880" y="1069848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22" name="Solution Chip"/>
          <p:cNvSpPr/>
          <p:nvPr/>
        </p:nvSpPr>
        <p:spPr>
          <a:xfrm>
            <a:off x="5897880" y="1435608"/>
            <a:ext cx="2788920" cy="384048"/>
          </a:xfrm>
          <a:prstGeom prst="rect">
            <a:avLst/>
          </a:prstGeom>
          <a:solidFill>
            <a:srgbClr val="FFF2CC"/>
          </a:solidFill>
          <a:ln w="9525">
            <a:solidFill>
              <a:srgbClr val="F7A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89320" y="143560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Smart Medicine Dispenser</a:t>
            </a:r>
          </a:p>
        </p:txBody>
      </p:sp>
      <p:sp>
        <p:nvSpPr>
          <p:cNvPr id="24" name="Solution Chip"/>
          <p:cNvSpPr/>
          <p:nvPr/>
        </p:nvSpPr>
        <p:spPr>
          <a:xfrm>
            <a:off x="5897880" y="1892808"/>
            <a:ext cx="2788920" cy="384048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89320" y="189280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Medical Report OCR</a:t>
            </a:r>
          </a:p>
        </p:txBody>
      </p:sp>
      <p:sp>
        <p:nvSpPr>
          <p:cNvPr id="26" name="Solution Chip"/>
          <p:cNvSpPr/>
          <p:nvPr/>
        </p:nvSpPr>
        <p:spPr>
          <a:xfrm>
            <a:off x="5897880" y="2350008"/>
            <a:ext cx="2788920" cy="384048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89320" y="235000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AI Disease Prediction</a:t>
            </a:r>
          </a:p>
        </p:txBody>
      </p:sp>
      <p:sp>
        <p:nvSpPr>
          <p:cNvPr id="28" name="Solution Chip"/>
          <p:cNvSpPr/>
          <p:nvPr/>
        </p:nvSpPr>
        <p:spPr>
          <a:xfrm>
            <a:off x="5897880" y="2807208"/>
            <a:ext cx="2788920" cy="384048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89320" y="280720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Adherence &amp; Recovery Monitoring</a:t>
            </a:r>
          </a:p>
        </p:txBody>
      </p:sp>
      <p:sp>
        <p:nvSpPr>
          <p:cNvPr id="30" name="Solution Chip"/>
          <p:cNvSpPr/>
          <p:nvPr/>
        </p:nvSpPr>
        <p:spPr>
          <a:xfrm>
            <a:off x="5897880" y="3264408"/>
            <a:ext cx="2788920" cy="384048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89320" y="326440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Role-Based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858768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6E7F"/>
                </a:solidFill>
                <a:latin typeface="Calibri"/>
              </a:rPr>
              <a:t>DUAL-LAYER APPROACH</a:t>
            </a:r>
          </a:p>
        </p:txBody>
      </p:sp>
      <p:sp>
        <p:nvSpPr>
          <p:cNvPr id="33" name="Layer 1"/>
          <p:cNvSpPr/>
          <p:nvPr/>
        </p:nvSpPr>
        <p:spPr>
          <a:xfrm>
            <a:off x="365760" y="4069080"/>
            <a:ext cx="4297680" cy="5029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06908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0D060"/>
                </a:solidFill>
                <a:latin typeface="Calibri"/>
              </a:rPr>
              <a:t>Layer 1 — IoT / Hardware  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ESP32 · Servos · IR Sensor · LED · Buzzer · LCD</a:t>
            </a:r>
          </a:p>
        </p:txBody>
      </p:sp>
      <p:sp>
        <p:nvSpPr>
          <p:cNvPr id="35" name="Layer 2"/>
          <p:cNvSpPr/>
          <p:nvPr/>
        </p:nvSpPr>
        <p:spPr>
          <a:xfrm>
            <a:off x="4846320" y="4069080"/>
            <a:ext cx="3931920" cy="502920"/>
          </a:xfrm>
          <a:prstGeom prst="rect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37760" y="4069080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0D060"/>
                </a:solidFill>
                <a:latin typeface="Calibri"/>
              </a:rPr>
              <a:t>Layer 2 — Software / Cloud  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Dashboard · Database · OCR · AI/ML ·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Literature Survey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7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8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4</a:t>
            </a:r>
          </a:p>
        </p:txBody>
      </p:sp>
      <p:graphicFrame>
        <p:nvGraphicFramePr>
          <p:cNvPr id="9" name="Data Table"/>
          <p:cNvGraphicFramePr>
            <a:graphicFrameLocks noGrp="1"/>
          </p:cNvGraphicFramePr>
          <p:nvPr/>
        </p:nvGraphicFramePr>
        <p:xfrm>
          <a:off x="182880" y="868680"/>
          <a:ext cx="8778240" cy="235915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Sr.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Author(s) &amp; Year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Technology / Method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Key Findings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Gap vs. Our Work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Zainalabidin et al., 2026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Pill Dispensing and Monitoring System with Biometric Access (PDMS-BA)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ESP32, fingerprint sensor, RTC module, servo-based dispensing, Wi-Fi logging to Google Sheets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Audio-visual alerts, fingerprint check before dispensing, real-time cloud logging; missed doses recorded automatically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Adds a biometric layer; focuses on authentication and logging, not report analysis or disease-risk prediction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Radika et al., 2026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Prototype Kotak Obat Otomatis Berbasis IoT (IoT-based automatic medicine box prototype)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ESP32, Firebase Realtime Database, Next.js web interface, stepper motor, I2C LCD, buzzer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Reminders, automatic dispensing and history logging verified by black-box testing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Reminder and logging focus; no medical-report OCR or AI-based risk prediction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Charunetraa et al., 2025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A Mobile IoT-Based Smart Pill Dispenser with Biometric Authentication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ESP32, AS608 fingerprint module, stepper motor, DS3231 RTC, Wi-Fi and mobile app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Scheduling, voice-guided reminders and caregiver notifications with fail-safe dispensing controls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Dispensing and caregiver alerts only; no report analysis or role-based clinical dashboard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urvey Callout"/>
          <p:cNvSpPr/>
          <p:nvPr/>
        </p:nvSpPr>
        <p:spPr>
          <a:xfrm>
            <a:off x="182880" y="3611880"/>
            <a:ext cx="8778240" cy="731520"/>
          </a:xfrm>
          <a:prstGeom prst="rect">
            <a:avLst/>
          </a:prstGeom>
          <a:solidFill>
            <a:srgbClr val="FFF2CC"/>
          </a:solidFill>
          <a:ln w="9525">
            <a:solidFill>
              <a:srgbClr val="F7A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Survey Takeaway"/>
          <p:cNvSpPr txBox="1"/>
          <p:nvPr/>
        </p:nvSpPr>
        <p:spPr>
          <a:xfrm>
            <a:off x="365760" y="3611880"/>
            <a:ext cx="8412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1E4E79"/>
                </a:solidFill>
                <a:latin typeface="Calibri"/>
              </a:rPr>
              <a:t>Common observation: existing dispensers concentrate on reminders, dispensing and logging; combining them with report analysis, risk prediction and role-based monitoring is the gap this project addresses.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Problem Definition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ntent Panel"/>
          <p:cNvSpPr/>
          <p:nvPr/>
        </p:nvSpPr>
        <p:spPr>
          <a:xfrm>
            <a:off x="182880" y="804672"/>
            <a:ext cx="8778240" cy="3840480"/>
          </a:xfrm>
          <a:prstGeom prst="rect">
            <a:avLst/>
          </a:prstGeom>
          <a:solidFill>
            <a:srgbClr val="F7F8FC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8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5</a:t>
            </a:r>
          </a:p>
        </p:txBody>
      </p:sp>
      <p:sp>
        <p:nvSpPr>
          <p:cNvPr id="10" name="Kicker"/>
          <p:cNvSpPr txBox="1"/>
          <p:nvPr/>
        </p:nvSpPr>
        <p:spPr>
          <a:xfrm>
            <a:off x="365760" y="85953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6E7F"/>
                </a:solidFill>
                <a:latin typeface="Calibri"/>
              </a:rPr>
              <a:t>THE PROBLEM</a:t>
            </a:r>
          </a:p>
        </p:txBody>
      </p:sp>
      <p:sp>
        <p:nvSpPr>
          <p:cNvPr id="11" name="Card"/>
          <p:cNvSpPr/>
          <p:nvPr/>
        </p:nvSpPr>
        <p:spPr>
          <a:xfrm>
            <a:off x="365760" y="1069848"/>
            <a:ext cx="4754880" cy="2514600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Card Header"/>
          <p:cNvSpPr/>
          <p:nvPr/>
        </p:nvSpPr>
        <p:spPr>
          <a:xfrm>
            <a:off x="365760" y="1069848"/>
            <a:ext cx="4754880" cy="274320"/>
          </a:xfrm>
          <a:prstGeom prst="rect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Card Title"/>
          <p:cNvSpPr txBox="1"/>
          <p:nvPr/>
        </p:nvSpPr>
        <p:spPr>
          <a:xfrm>
            <a:off x="457200" y="10698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14" name="Card Body"/>
          <p:cNvSpPr txBox="1"/>
          <p:nvPr/>
        </p:nvSpPr>
        <p:spPr>
          <a:xfrm>
            <a:off x="475488" y="1417320"/>
            <a:ext cx="4535424" cy="1238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spcAft>
                <a:spcPts val="300"/>
              </a:spcAft>
            </a:pPr>
            <a:r>
              <a:rPr sz="1300" b="0" i="0" dirty="0">
                <a:solidFill>
                  <a:srgbClr val="1F2937"/>
                </a:solidFill>
                <a:latin typeface="Calibri"/>
              </a:rPr>
              <a:t>Patients with non-communicable diseases need regular medication and continuous health monitoring. Missed doses, no adherence tracking and manual analysis of medical reports make healthcare management difficult.</a:t>
            </a:r>
          </a:p>
          <a:p>
            <a:pPr algn="just">
              <a:spcAft>
                <a:spcPts val="300"/>
              </a:spcAft>
            </a:pPr>
            <a:r>
              <a:rPr sz="1300" b="0" i="0" dirty="0">
                <a:solidFill>
                  <a:srgbClr val="1F2937"/>
                </a:solidFill>
                <a:latin typeface="Calibri"/>
              </a:rPr>
              <a:t>Family members and healthcare professionals often lack real-time information about a patient's medication intake and health status.</a:t>
            </a:r>
          </a:p>
        </p:txBody>
      </p:sp>
      <p:sp>
        <p:nvSpPr>
          <p:cNvPr id="15" name="Gap Card"/>
          <p:cNvSpPr/>
          <p:nvPr/>
        </p:nvSpPr>
        <p:spPr>
          <a:xfrm>
            <a:off x="5303520" y="1069848"/>
            <a:ext cx="34747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Badge"/>
          <p:cNvSpPr/>
          <p:nvPr/>
        </p:nvSpPr>
        <p:spPr>
          <a:xfrm>
            <a:off x="5394960" y="1252728"/>
            <a:ext cx="411480" cy="41148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11556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4E79"/>
                </a:solidFill>
                <a:latin typeface="Calibri"/>
              </a:rPr>
              <a:t>Missed medicine doses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362456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No reliable reminder or controlled dispensing at the prescribed time.</a:t>
            </a:r>
          </a:p>
        </p:txBody>
      </p:sp>
      <p:sp>
        <p:nvSpPr>
          <p:cNvPr id="19" name="Gap Card"/>
          <p:cNvSpPr/>
          <p:nvPr/>
        </p:nvSpPr>
        <p:spPr>
          <a:xfrm>
            <a:off x="5303520" y="1938528"/>
            <a:ext cx="34747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Badge"/>
          <p:cNvSpPr/>
          <p:nvPr/>
        </p:nvSpPr>
        <p:spPr>
          <a:xfrm>
            <a:off x="5394960" y="2121408"/>
            <a:ext cx="411480" cy="41148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98424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4E79"/>
                </a:solidFill>
                <a:latin typeface="Calibri"/>
              </a:rPr>
              <a:t>No adherence 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231136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Family and doctors cannot see what was dispensed or collected.</a:t>
            </a:r>
          </a:p>
        </p:txBody>
      </p:sp>
      <p:sp>
        <p:nvSpPr>
          <p:cNvPr id="23" name="Gap Card"/>
          <p:cNvSpPr/>
          <p:nvPr/>
        </p:nvSpPr>
        <p:spPr>
          <a:xfrm>
            <a:off x="5303520" y="2807208"/>
            <a:ext cx="34747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Badge"/>
          <p:cNvSpPr/>
          <p:nvPr/>
        </p:nvSpPr>
        <p:spPr>
          <a:xfrm>
            <a:off x="5394960" y="2990088"/>
            <a:ext cx="411480" cy="41148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852927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4E79"/>
                </a:solidFill>
                <a:latin typeface="Calibri"/>
              </a:rPr>
              <a:t>Manual report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099815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Reports are hard to interpret and are analysed by hand.</a:t>
            </a:r>
          </a:p>
        </p:txBody>
      </p:sp>
      <p:sp>
        <p:nvSpPr>
          <p:cNvPr id="27" name="Need Banner"/>
          <p:cNvSpPr/>
          <p:nvPr/>
        </p:nvSpPr>
        <p:spPr>
          <a:xfrm>
            <a:off x="365760" y="3749039"/>
            <a:ext cx="8412480" cy="82296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749039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0D060"/>
                </a:solidFill>
                <a:latin typeface="Calibri"/>
              </a:rPr>
              <a:t>THE NEED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An integrated system that automates medicine reminders and dispensing, analyses medical reports using OCR, predicts disease risk using AI/ML, and provides centralised patient monitoring through a role-based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Aim &amp; Objectives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ntent Panel"/>
          <p:cNvSpPr/>
          <p:nvPr/>
        </p:nvSpPr>
        <p:spPr>
          <a:xfrm>
            <a:off x="182880" y="804672"/>
            <a:ext cx="8778240" cy="3840480"/>
          </a:xfrm>
          <a:prstGeom prst="rect">
            <a:avLst/>
          </a:prstGeom>
          <a:solidFill>
            <a:srgbClr val="F7F8FC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8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6</a:t>
            </a:r>
          </a:p>
        </p:txBody>
      </p:sp>
      <p:sp>
        <p:nvSpPr>
          <p:cNvPr id="10" name="Kicker"/>
          <p:cNvSpPr txBox="1"/>
          <p:nvPr/>
        </p:nvSpPr>
        <p:spPr>
          <a:xfrm>
            <a:off x="365760" y="85953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6E7F"/>
                </a:solidFill>
                <a:latin typeface="Calibri"/>
              </a:rPr>
              <a:t>THE MISSION</a:t>
            </a:r>
          </a:p>
        </p:txBody>
      </p:sp>
      <p:sp>
        <p:nvSpPr>
          <p:cNvPr id="11" name="Aim Card"/>
          <p:cNvSpPr/>
          <p:nvPr/>
        </p:nvSpPr>
        <p:spPr>
          <a:xfrm>
            <a:off x="365760" y="1069848"/>
            <a:ext cx="3383280" cy="3502152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Card Header"/>
          <p:cNvSpPr/>
          <p:nvPr/>
        </p:nvSpPr>
        <p:spPr>
          <a:xfrm>
            <a:off x="365760" y="1069848"/>
            <a:ext cx="3383280" cy="292608"/>
          </a:xfrm>
          <a:prstGeom prst="rect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06984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PROJECT AIM</a:t>
            </a:r>
          </a:p>
        </p:txBody>
      </p:sp>
      <p:sp>
        <p:nvSpPr>
          <p:cNvPr id="14" name="Aim Text"/>
          <p:cNvSpPr txBox="1"/>
          <p:nvPr/>
        </p:nvSpPr>
        <p:spPr>
          <a:xfrm>
            <a:off x="502920" y="1481328"/>
            <a:ext cx="3108960" cy="1561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450" b="0" i="0" dirty="0">
                <a:solidFill>
                  <a:srgbClr val="1F2937"/>
                </a:solidFill>
                <a:latin typeface="Calibri"/>
              </a:rPr>
              <a:t>To develop an IoT, AI and OCR-enabled healthcare monitoring system that automates medicine reminders and dispensing, monitors medicine pickup and adherence, analyses medical reports, predicts disease risk and provides role-based health monitoring.</a:t>
            </a:r>
          </a:p>
        </p:txBody>
      </p:sp>
      <p:sp>
        <p:nvSpPr>
          <p:cNvPr id="15" name="Card Header"/>
          <p:cNvSpPr/>
          <p:nvPr/>
        </p:nvSpPr>
        <p:spPr>
          <a:xfrm>
            <a:off x="3931920" y="1069848"/>
            <a:ext cx="4846320" cy="292608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23360" y="1069848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KEY OBJECTIVES</a:t>
            </a:r>
          </a:p>
        </p:txBody>
      </p:sp>
      <p:sp>
        <p:nvSpPr>
          <p:cNvPr id="17" name="Objective Row"/>
          <p:cNvSpPr/>
          <p:nvPr/>
        </p:nvSpPr>
        <p:spPr>
          <a:xfrm>
            <a:off x="3931920" y="1444752"/>
            <a:ext cx="4846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Badge"/>
          <p:cNvSpPr/>
          <p:nvPr/>
        </p:nvSpPr>
        <p:spPr>
          <a:xfrm>
            <a:off x="4023360" y="1572768"/>
            <a:ext cx="310896" cy="31089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1543550"/>
            <a:ext cx="42519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00" b="0" i="0" dirty="0">
                <a:solidFill>
                  <a:srgbClr val="1F2937"/>
                </a:solidFill>
                <a:latin typeface="Calibri"/>
              </a:rPr>
              <a:t>To </a:t>
            </a:r>
            <a:r>
              <a:rPr sz="1200" b="0" i="0" dirty="0">
                <a:solidFill>
                  <a:srgbClr val="1F2937"/>
                </a:solidFill>
                <a:latin typeface="Calibri"/>
              </a:rPr>
              <a:t>Automate scheduled medicine dispensing and reminders using IoT technology.</a:t>
            </a:r>
          </a:p>
        </p:txBody>
      </p:sp>
      <p:sp>
        <p:nvSpPr>
          <p:cNvPr id="20" name="Objective Row"/>
          <p:cNvSpPr/>
          <p:nvPr/>
        </p:nvSpPr>
        <p:spPr>
          <a:xfrm>
            <a:off x="3931920" y="2075688"/>
            <a:ext cx="4846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Badge"/>
          <p:cNvSpPr/>
          <p:nvPr/>
        </p:nvSpPr>
        <p:spPr>
          <a:xfrm>
            <a:off x="4023360" y="2203704"/>
            <a:ext cx="310896" cy="310896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2174486"/>
            <a:ext cx="42519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00" b="0" i="0" dirty="0">
                <a:solidFill>
                  <a:srgbClr val="1F2937"/>
                </a:solidFill>
                <a:latin typeface="Calibri"/>
              </a:rPr>
              <a:t>To </a:t>
            </a:r>
            <a:r>
              <a:rPr sz="1200" b="0" i="0" dirty="0">
                <a:solidFill>
                  <a:srgbClr val="1F2937"/>
                </a:solidFill>
                <a:latin typeface="Calibri"/>
              </a:rPr>
              <a:t>Monitor medication adherence and generate alerts for missed doses.</a:t>
            </a:r>
          </a:p>
        </p:txBody>
      </p:sp>
      <p:sp>
        <p:nvSpPr>
          <p:cNvPr id="23" name="Objective Row"/>
          <p:cNvSpPr/>
          <p:nvPr/>
        </p:nvSpPr>
        <p:spPr>
          <a:xfrm>
            <a:off x="3931920" y="2706624"/>
            <a:ext cx="4846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Badge"/>
          <p:cNvSpPr/>
          <p:nvPr/>
        </p:nvSpPr>
        <p:spPr>
          <a:xfrm>
            <a:off x="4023360" y="2834640"/>
            <a:ext cx="310896" cy="310896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2897755"/>
            <a:ext cx="42519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00" b="0" i="0" dirty="0">
                <a:solidFill>
                  <a:srgbClr val="1F2937"/>
                </a:solidFill>
                <a:latin typeface="Calibri"/>
              </a:rPr>
              <a:t>To </a:t>
            </a:r>
            <a:r>
              <a:rPr sz="1200" b="0" i="0" dirty="0">
                <a:solidFill>
                  <a:srgbClr val="1F2937"/>
                </a:solidFill>
                <a:latin typeface="Calibri"/>
              </a:rPr>
              <a:t>Extract medical parameters from reports using OCR technology.</a:t>
            </a:r>
          </a:p>
        </p:txBody>
      </p:sp>
      <p:sp>
        <p:nvSpPr>
          <p:cNvPr id="26" name="Objective Row"/>
          <p:cNvSpPr/>
          <p:nvPr/>
        </p:nvSpPr>
        <p:spPr>
          <a:xfrm>
            <a:off x="3931920" y="3337560"/>
            <a:ext cx="4846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Badge"/>
          <p:cNvSpPr/>
          <p:nvPr/>
        </p:nvSpPr>
        <p:spPr>
          <a:xfrm>
            <a:off x="4023360" y="3465576"/>
            <a:ext cx="310896" cy="310896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3436358"/>
            <a:ext cx="42519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00" b="0" i="0" dirty="0">
                <a:solidFill>
                  <a:srgbClr val="1F2937"/>
                </a:solidFill>
                <a:latin typeface="Calibri"/>
              </a:rPr>
              <a:t>To </a:t>
            </a:r>
            <a:r>
              <a:rPr sz="1200" b="0" i="0" dirty="0">
                <a:solidFill>
                  <a:srgbClr val="1F2937"/>
                </a:solidFill>
                <a:latin typeface="Calibri"/>
              </a:rPr>
              <a:t>Predict the risk of non-communicable diseases using AI/ML models.</a:t>
            </a:r>
          </a:p>
        </p:txBody>
      </p:sp>
      <p:sp>
        <p:nvSpPr>
          <p:cNvPr id="29" name="Objective Row"/>
          <p:cNvSpPr/>
          <p:nvPr/>
        </p:nvSpPr>
        <p:spPr>
          <a:xfrm>
            <a:off x="3931920" y="3968496"/>
            <a:ext cx="4846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Badge"/>
          <p:cNvSpPr/>
          <p:nvPr/>
        </p:nvSpPr>
        <p:spPr>
          <a:xfrm>
            <a:off x="4023360" y="4096511"/>
            <a:ext cx="310896" cy="310896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4067294"/>
            <a:ext cx="42519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00" b="0" i="0" dirty="0">
                <a:solidFill>
                  <a:srgbClr val="1F2937"/>
                </a:solidFill>
                <a:latin typeface="Calibri"/>
              </a:rPr>
              <a:t>To </a:t>
            </a:r>
            <a:r>
              <a:rPr sz="1200" b="0" i="0" dirty="0">
                <a:solidFill>
                  <a:srgbClr val="1F2937"/>
                </a:solidFill>
                <a:latin typeface="Calibri"/>
              </a:rPr>
              <a:t>Enable </a:t>
            </a:r>
            <a:r>
              <a:rPr sz="1200" b="0" i="0" dirty="0" err="1">
                <a:solidFill>
                  <a:srgbClr val="1F2937"/>
                </a:solidFill>
                <a:latin typeface="Calibri"/>
              </a:rPr>
              <a:t>centralised</a:t>
            </a:r>
            <a:r>
              <a:rPr sz="1200" b="0" i="0" dirty="0">
                <a:solidFill>
                  <a:srgbClr val="1F2937"/>
                </a:solidFill>
                <a:latin typeface="Calibri"/>
              </a:rPr>
              <a:t> health monitoring through role-based dashboards for patients and healthcare professionals.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Methodology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ntent Panel"/>
          <p:cNvSpPr/>
          <p:nvPr/>
        </p:nvSpPr>
        <p:spPr>
          <a:xfrm>
            <a:off x="182880" y="804672"/>
            <a:ext cx="8778240" cy="3840480"/>
          </a:xfrm>
          <a:prstGeom prst="rect">
            <a:avLst/>
          </a:prstGeom>
          <a:solidFill>
            <a:srgbClr val="F7F8FC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8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7</a:t>
            </a:r>
          </a:p>
        </p:txBody>
      </p:sp>
      <p:sp>
        <p:nvSpPr>
          <p:cNvPr id="10" name="Kicker"/>
          <p:cNvSpPr txBox="1"/>
          <p:nvPr/>
        </p:nvSpPr>
        <p:spPr>
          <a:xfrm>
            <a:off x="365760" y="85953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6E7F"/>
                </a:solidFill>
                <a:latin typeface="Calibri"/>
              </a:rPr>
              <a:t>EIGHT-STEP APPROACH</a:t>
            </a:r>
          </a:p>
        </p:txBody>
      </p:sp>
      <p:sp>
        <p:nvSpPr>
          <p:cNvPr id="11" name="Step Card"/>
          <p:cNvSpPr/>
          <p:nvPr/>
        </p:nvSpPr>
        <p:spPr>
          <a:xfrm>
            <a:off x="365760" y="1097280"/>
            <a:ext cx="2011680" cy="1581912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Step Header"/>
          <p:cNvSpPr/>
          <p:nvPr/>
        </p:nvSpPr>
        <p:spPr>
          <a:xfrm>
            <a:off x="365760" y="1097280"/>
            <a:ext cx="2011680" cy="45720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Badge"/>
          <p:cNvSpPr/>
          <p:nvPr/>
        </p:nvSpPr>
        <p:spPr>
          <a:xfrm>
            <a:off x="438912" y="1179576"/>
            <a:ext cx="292608" cy="29260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097280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Patient &amp; Prescription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627631"/>
            <a:ext cx="182880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Register the patient and store prescribed medicines, dosage schedules and relevant medical information.</a:t>
            </a:r>
          </a:p>
        </p:txBody>
      </p:sp>
      <p:sp>
        <p:nvSpPr>
          <p:cNvPr id="16" name="Step Card"/>
          <p:cNvSpPr/>
          <p:nvPr/>
        </p:nvSpPr>
        <p:spPr>
          <a:xfrm>
            <a:off x="2487168" y="1097280"/>
            <a:ext cx="2011680" cy="1581912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Step Header"/>
          <p:cNvSpPr/>
          <p:nvPr/>
        </p:nvSpPr>
        <p:spPr>
          <a:xfrm>
            <a:off x="2487168" y="1097280"/>
            <a:ext cx="2011680" cy="45720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Badge"/>
          <p:cNvSpPr/>
          <p:nvPr/>
        </p:nvSpPr>
        <p:spPr>
          <a:xfrm>
            <a:off x="2560320" y="1179576"/>
            <a:ext cx="292608" cy="29260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79" y="1097280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IoT Hardware Initialisation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1627631"/>
            <a:ext cx="182880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Configure ESP32, servos, IR sensor, LCD, LED and buzzer; map medicines to the six carousel slots.</a:t>
            </a:r>
          </a:p>
        </p:txBody>
      </p:sp>
      <p:sp>
        <p:nvSpPr>
          <p:cNvPr id="21" name="Step Card"/>
          <p:cNvSpPr/>
          <p:nvPr/>
        </p:nvSpPr>
        <p:spPr>
          <a:xfrm>
            <a:off x="4608576" y="1097280"/>
            <a:ext cx="2011680" cy="1581912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Step Header"/>
          <p:cNvSpPr/>
          <p:nvPr/>
        </p:nvSpPr>
        <p:spPr>
          <a:xfrm>
            <a:off x="4608576" y="1097280"/>
            <a:ext cx="2011680" cy="45720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Badge"/>
          <p:cNvSpPr/>
          <p:nvPr/>
        </p:nvSpPr>
        <p:spPr>
          <a:xfrm>
            <a:off x="4681728" y="1179576"/>
            <a:ext cx="292608" cy="29260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1097280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Scheduled Dispensing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1627631"/>
            <a:ext cx="182880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ESP32 compares NTP-synced time with the schedule; carousel and gate release the selected medicine.</a:t>
            </a:r>
          </a:p>
        </p:txBody>
      </p:sp>
      <p:sp>
        <p:nvSpPr>
          <p:cNvPr id="26" name="Step Card"/>
          <p:cNvSpPr/>
          <p:nvPr/>
        </p:nvSpPr>
        <p:spPr>
          <a:xfrm>
            <a:off x="6729983" y="1097280"/>
            <a:ext cx="2011680" cy="1581912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Step Header"/>
          <p:cNvSpPr/>
          <p:nvPr/>
        </p:nvSpPr>
        <p:spPr>
          <a:xfrm>
            <a:off x="6729983" y="1097280"/>
            <a:ext cx="2011680" cy="45720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Badge"/>
          <p:cNvSpPr/>
          <p:nvPr/>
        </p:nvSpPr>
        <p:spPr>
          <a:xfrm>
            <a:off x="6803136" y="1179576"/>
            <a:ext cx="292608" cy="29260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896" y="1097280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Pickup Detection &amp;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3" y="1627631"/>
            <a:ext cx="182880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IR sensor detects a hand at the outlet; dose status is recorded; missed-dose alerts to family or nurse.</a:t>
            </a:r>
          </a:p>
        </p:txBody>
      </p:sp>
      <p:sp>
        <p:nvSpPr>
          <p:cNvPr id="31" name="Step Card"/>
          <p:cNvSpPr/>
          <p:nvPr/>
        </p:nvSpPr>
        <p:spPr>
          <a:xfrm>
            <a:off x="365760" y="2788920"/>
            <a:ext cx="2011680" cy="1581912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Step Header"/>
          <p:cNvSpPr/>
          <p:nvPr/>
        </p:nvSpPr>
        <p:spPr>
          <a:xfrm>
            <a:off x="365760" y="2788920"/>
            <a:ext cx="2011680" cy="457200"/>
          </a:xfrm>
          <a:prstGeom prst="rect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Badge"/>
          <p:cNvSpPr/>
          <p:nvPr/>
        </p:nvSpPr>
        <p:spPr>
          <a:xfrm>
            <a:off x="438912" y="2871215"/>
            <a:ext cx="292608" cy="29260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2788920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Medical Report Processing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319272"/>
            <a:ext cx="182880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Uploaded reports are processed with OCR (Tesseract) to extract key medical parameters.</a:t>
            </a:r>
          </a:p>
        </p:txBody>
      </p:sp>
      <p:sp>
        <p:nvSpPr>
          <p:cNvPr id="36" name="Step Card"/>
          <p:cNvSpPr/>
          <p:nvPr/>
        </p:nvSpPr>
        <p:spPr>
          <a:xfrm>
            <a:off x="2487168" y="2788920"/>
            <a:ext cx="2011680" cy="1581912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Step Header"/>
          <p:cNvSpPr/>
          <p:nvPr/>
        </p:nvSpPr>
        <p:spPr>
          <a:xfrm>
            <a:off x="2487168" y="2788920"/>
            <a:ext cx="2011680" cy="457200"/>
          </a:xfrm>
          <a:prstGeom prst="rect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Badge"/>
          <p:cNvSpPr/>
          <p:nvPr/>
        </p:nvSpPr>
        <p:spPr>
          <a:xfrm>
            <a:off x="2560320" y="2871215"/>
            <a:ext cx="292608" cy="29260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79" y="2788920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AI Risk Prediction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78608" y="3319272"/>
            <a:ext cx="182880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Trained AI/ML models estimate risk of diabetes, hypertension, heart and kidney disease, and stroke.</a:t>
            </a:r>
          </a:p>
        </p:txBody>
      </p:sp>
      <p:sp>
        <p:nvSpPr>
          <p:cNvPr id="41" name="Step Card"/>
          <p:cNvSpPr/>
          <p:nvPr/>
        </p:nvSpPr>
        <p:spPr>
          <a:xfrm>
            <a:off x="4608576" y="2788920"/>
            <a:ext cx="2011680" cy="1581912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Step Header"/>
          <p:cNvSpPr/>
          <p:nvPr/>
        </p:nvSpPr>
        <p:spPr>
          <a:xfrm>
            <a:off x="4608576" y="2788920"/>
            <a:ext cx="2011680" cy="457200"/>
          </a:xfrm>
          <a:prstGeom prst="rect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Badge"/>
          <p:cNvSpPr/>
          <p:nvPr/>
        </p:nvSpPr>
        <p:spPr>
          <a:xfrm>
            <a:off x="4681728" y="2871215"/>
            <a:ext cx="292608" cy="29260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47488" y="2788920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Database &amp; 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0016" y="3319272"/>
            <a:ext cx="182880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Prescriptions, reports, dose records and predictions are stored and shown on role-based dashboards.</a:t>
            </a:r>
          </a:p>
        </p:txBody>
      </p:sp>
      <p:sp>
        <p:nvSpPr>
          <p:cNvPr id="46" name="Step Card"/>
          <p:cNvSpPr/>
          <p:nvPr/>
        </p:nvSpPr>
        <p:spPr>
          <a:xfrm>
            <a:off x="6729983" y="2788920"/>
            <a:ext cx="2011680" cy="1581912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Step Header"/>
          <p:cNvSpPr/>
          <p:nvPr/>
        </p:nvSpPr>
        <p:spPr>
          <a:xfrm>
            <a:off x="6729983" y="2788920"/>
            <a:ext cx="2011680" cy="457200"/>
          </a:xfrm>
          <a:prstGeom prst="rect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Badge"/>
          <p:cNvSpPr/>
          <p:nvPr/>
        </p:nvSpPr>
        <p:spPr>
          <a:xfrm>
            <a:off x="6803136" y="2871215"/>
            <a:ext cx="292608" cy="29260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68896" y="2788920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Monitoring &amp; Follow-Up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21423" y="3319272"/>
            <a:ext cx="182880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Track adherence, health data and risk trends to support follow-up care.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480560"/>
            <a:ext cx="128016" cy="9144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640" y="4425696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Layer 1 — IoT / Hardware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51760" y="4480560"/>
            <a:ext cx="128016" cy="91440"/>
          </a:xfrm>
          <a:prstGeom prst="rect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834640" y="4425696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Layer 2 — Software / Cloud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ntent Panel"/>
          <p:cNvSpPr/>
          <p:nvPr/>
        </p:nvSpPr>
        <p:spPr>
          <a:xfrm>
            <a:off x="182880" y="804672"/>
            <a:ext cx="8778240" cy="3840480"/>
          </a:xfrm>
          <a:prstGeom prst="rect">
            <a:avLst/>
          </a:prstGeom>
          <a:solidFill>
            <a:srgbClr val="F7F8FC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8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8</a:t>
            </a:r>
          </a:p>
        </p:txBody>
      </p:sp>
      <p:sp>
        <p:nvSpPr>
          <p:cNvPr id="10" name="NTP Box"/>
          <p:cNvSpPr/>
          <p:nvPr/>
        </p:nvSpPr>
        <p:spPr>
          <a:xfrm>
            <a:off x="365760" y="914400"/>
            <a:ext cx="1737360" cy="731520"/>
          </a:xfrm>
          <a:prstGeom prst="roundRect">
            <a:avLst/>
          </a:prstGeom>
          <a:solidFill>
            <a:srgbClr val="EAF2FA"/>
          </a:solidFill>
          <a:ln w="9525">
            <a:solidFill>
              <a:srgbClr val="1E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91440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E4E79"/>
                </a:solidFill>
                <a:latin typeface="Calibri"/>
              </a:rPr>
              <a:t>NTP Time Server</a:t>
            </a:r>
          </a:p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Internet time source</a:t>
            </a:r>
          </a:p>
        </p:txBody>
      </p:sp>
      <p:sp>
        <p:nvSpPr>
          <p:cNvPr id="12" name="Dashboard Box"/>
          <p:cNvSpPr/>
          <p:nvPr/>
        </p:nvSpPr>
        <p:spPr>
          <a:xfrm>
            <a:off x="365760" y="2148840"/>
            <a:ext cx="1737360" cy="100584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F7A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14884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E4E79"/>
                </a:solidFill>
                <a:latin typeface="Calibri"/>
              </a:rPr>
              <a:t>Web Dashboard</a:t>
            </a:r>
          </a:p>
          <a:p>
            <a:pPr algn="ctr"/>
            <a:r>
              <a:rPr sz="900" b="0" i="0">
                <a:solidFill>
                  <a:srgbClr val="1F2937"/>
                </a:solidFill>
                <a:latin typeface="Calibri"/>
              </a:rPr>
              <a:t>Schedules · status · history</a:t>
            </a:r>
          </a:p>
        </p:txBody>
      </p:sp>
      <p:sp>
        <p:nvSpPr>
          <p:cNvPr id="14" name="Planned Box"/>
          <p:cNvSpPr/>
          <p:nvPr/>
        </p:nvSpPr>
        <p:spPr>
          <a:xfrm>
            <a:off x="365760" y="3611880"/>
            <a:ext cx="17373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F8F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973123"/>
            <a:ext cx="164592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dirty="0">
                <a:solidFill>
                  <a:srgbClr val="1F2937"/>
                </a:solidFill>
                <a:latin typeface="Calibri"/>
              </a:rPr>
              <a:t>Telegram alerts</a:t>
            </a:r>
          </a:p>
        </p:txBody>
      </p:sp>
      <p:sp>
        <p:nvSpPr>
          <p:cNvPr id="16" name="ESP32 Box"/>
          <p:cNvSpPr/>
          <p:nvPr/>
        </p:nvSpPr>
        <p:spPr>
          <a:xfrm>
            <a:off x="3200400" y="914400"/>
            <a:ext cx="2057400" cy="3566160"/>
          </a:xfrm>
          <a:prstGeom prst="roundRect">
            <a:avLst>
              <a:gd name="adj" fmla="val 5000"/>
            </a:avLst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1840" y="978408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0D060"/>
                </a:solidFill>
                <a:latin typeface="Calibri"/>
              </a:rPr>
              <a:t>ESP32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37160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DCE9F5"/>
                </a:solidFill>
                <a:latin typeface="Calibri"/>
              </a:rPr>
              <a:t>Central 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1737360"/>
            <a:ext cx="178308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304" indent="-146304" algn="l">
              <a:spcAft>
                <a:spcPts val="700"/>
              </a:spcAft>
              <a:buClr>
                <a:srgbClr val="F0D060"/>
              </a:buClr>
              <a:buChar char="•"/>
            </a:pPr>
            <a:r>
              <a:rPr sz="1150" b="0" i="0">
                <a:solidFill>
                  <a:srgbClr val="FFFFFF"/>
                </a:solidFill>
                <a:latin typeface="Calibri"/>
              </a:rPr>
              <a:t>Wi-Fi + HTTP web server</a:t>
            </a:r>
          </a:p>
          <a:p>
            <a:pPr marL="146304" indent="-146304" algn="l">
              <a:spcAft>
                <a:spcPts val="700"/>
              </a:spcAft>
              <a:buClr>
                <a:srgbClr val="F0D060"/>
              </a:buClr>
              <a:buChar char="•"/>
            </a:pPr>
            <a:r>
              <a:rPr sz="1150" b="0" i="0">
                <a:solidFill>
                  <a:srgbClr val="FFFFFF"/>
                </a:solidFill>
                <a:latin typeface="Calibri"/>
              </a:rPr>
              <a:t>NTP time synchronisation</a:t>
            </a:r>
          </a:p>
          <a:p>
            <a:pPr marL="146304" indent="-146304" algn="l">
              <a:spcAft>
                <a:spcPts val="700"/>
              </a:spcAft>
              <a:buClr>
                <a:srgbClr val="F0D060"/>
              </a:buClr>
              <a:buChar char="•"/>
            </a:pPr>
            <a:r>
              <a:rPr sz="1150" b="0" i="0">
                <a:solidFill>
                  <a:srgbClr val="FFFFFF"/>
                </a:solidFill>
                <a:latin typeface="Calibri"/>
              </a:rPr>
              <a:t>Stores six-slot schedules</a:t>
            </a:r>
          </a:p>
          <a:p>
            <a:pPr marL="146304" indent="-146304" algn="l">
              <a:spcAft>
                <a:spcPts val="700"/>
              </a:spcAft>
              <a:buClr>
                <a:srgbClr val="F0D060"/>
              </a:buClr>
              <a:buChar char="•"/>
            </a:pPr>
            <a:r>
              <a:rPr sz="1150" b="0" i="0">
                <a:solidFill>
                  <a:srgbClr val="FFFFFF"/>
                </a:solidFill>
                <a:latin typeface="Calibri"/>
              </a:rPr>
              <a:t>Schedule vs. time check</a:t>
            </a:r>
          </a:p>
          <a:p>
            <a:pPr marL="146304" indent="-146304" algn="l">
              <a:spcAft>
                <a:spcPts val="700"/>
              </a:spcAft>
              <a:buClr>
                <a:srgbClr val="F0D060"/>
              </a:buClr>
              <a:buChar char="•"/>
            </a:pPr>
            <a:r>
              <a:rPr sz="1150" b="0" i="0">
                <a:solidFill>
                  <a:srgbClr val="FFFFFF"/>
                </a:solidFill>
                <a:latin typeface="Calibri"/>
              </a:rPr>
              <a:t>Drives servos, LED, buzzer, LCD</a:t>
            </a:r>
          </a:p>
          <a:p>
            <a:pPr marL="146304" indent="-146304" algn="l">
              <a:spcAft>
                <a:spcPts val="700"/>
              </a:spcAft>
              <a:buClr>
                <a:srgbClr val="F0D060"/>
              </a:buClr>
              <a:buChar char="•"/>
            </a:pPr>
            <a:r>
              <a:rPr sz="1150" b="0" i="0">
                <a:solidFill>
                  <a:srgbClr val="FFFFFF"/>
                </a:solidFill>
                <a:latin typeface="Calibri"/>
              </a:rPr>
              <a:t>Reads IR sensor</a:t>
            </a:r>
          </a:p>
          <a:p>
            <a:pPr marL="146304" indent="-146304" algn="l">
              <a:spcAft>
                <a:spcPts val="700"/>
              </a:spcAft>
              <a:buClr>
                <a:srgbClr val="F0D060"/>
              </a:buClr>
              <a:buChar char="•"/>
            </a:pPr>
            <a:r>
              <a:rPr sz="1150" b="0" i="0">
                <a:solidFill>
                  <a:srgbClr val="FFFFFF"/>
                </a:solidFill>
                <a:latin typeface="Calibri"/>
              </a:rPr>
              <a:t>Reports status to dashboard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03120" y="1280160"/>
            <a:ext cx="1097280" cy="0"/>
          </a:xfrm>
          <a:prstGeom prst="line">
            <a:avLst/>
          </a:prstGeom>
          <a:ln w="19050">
            <a:solidFill>
              <a:srgbClr val="1E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121408" y="1024128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E4E79"/>
                </a:solidFill>
                <a:latin typeface="Calibri"/>
              </a:rPr>
              <a:t>Wi-Fi / NTP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03120" y="2651760"/>
            <a:ext cx="1097280" cy="0"/>
          </a:xfrm>
          <a:prstGeom prst="line">
            <a:avLst/>
          </a:prstGeom>
          <a:ln w="19050">
            <a:solidFill>
              <a:srgbClr val="1E4E7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121408" y="233172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E4E79"/>
                </a:solidFill>
                <a:latin typeface="Calibri"/>
              </a:rPr>
              <a:t>HTTP over Wi-Fi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03120" y="4023360"/>
            <a:ext cx="1097280" cy="0"/>
          </a:xfrm>
          <a:prstGeom prst="line">
            <a:avLst/>
          </a:prstGeom>
          <a:ln w="19050">
            <a:solidFill>
              <a:srgbClr val="7F8FA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evice Box"/>
          <p:cNvSpPr/>
          <p:nvPr/>
        </p:nvSpPr>
        <p:spPr>
          <a:xfrm>
            <a:off x="5989320" y="914400"/>
            <a:ext cx="2788920" cy="384048"/>
          </a:xfrm>
          <a:prstGeom prst="rect">
            <a:avLst/>
          </a:prstGeom>
          <a:solidFill>
            <a:srgbClr val="EAF2FA"/>
          </a:solidFill>
          <a:ln w="9525">
            <a:solidFill>
              <a:srgbClr val="1E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80760" y="91440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Carousel Servo · GPIO 23</a:t>
            </a:r>
          </a:p>
        </p:txBody>
      </p:sp>
      <p:sp>
        <p:nvSpPr>
          <p:cNvPr id="27" name="Device Box"/>
          <p:cNvSpPr/>
          <p:nvPr/>
        </p:nvSpPr>
        <p:spPr>
          <a:xfrm>
            <a:off x="5989320" y="1362456"/>
            <a:ext cx="2788920" cy="384048"/>
          </a:xfrm>
          <a:prstGeom prst="rect">
            <a:avLst/>
          </a:prstGeom>
          <a:solidFill>
            <a:srgbClr val="EAF2FA"/>
          </a:solidFill>
          <a:ln w="9525">
            <a:solidFill>
              <a:srgbClr val="1E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80760" y="1362456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Gate Servo 1 · GPIO 18</a:t>
            </a:r>
          </a:p>
        </p:txBody>
      </p:sp>
      <p:sp>
        <p:nvSpPr>
          <p:cNvPr id="29" name="Device Box"/>
          <p:cNvSpPr/>
          <p:nvPr/>
        </p:nvSpPr>
        <p:spPr>
          <a:xfrm>
            <a:off x="5989320" y="1810512"/>
            <a:ext cx="2788920" cy="384048"/>
          </a:xfrm>
          <a:prstGeom prst="rect">
            <a:avLst/>
          </a:prstGeom>
          <a:solidFill>
            <a:srgbClr val="EAF2FA"/>
          </a:solidFill>
          <a:ln w="9525">
            <a:solidFill>
              <a:srgbClr val="1E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80760" y="1810512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Gate Servo 2 · GPIO 19</a:t>
            </a:r>
          </a:p>
        </p:txBody>
      </p:sp>
      <p:sp>
        <p:nvSpPr>
          <p:cNvPr id="31" name="Device Box"/>
          <p:cNvSpPr/>
          <p:nvPr/>
        </p:nvSpPr>
        <p:spPr>
          <a:xfrm>
            <a:off x="5989320" y="2377440"/>
            <a:ext cx="2788920" cy="384048"/>
          </a:xfrm>
          <a:prstGeom prst="rect">
            <a:avLst/>
          </a:prstGeom>
          <a:solidFill>
            <a:srgbClr val="FFF2CC"/>
          </a:solidFill>
          <a:ln w="9525">
            <a:solidFill>
              <a:srgbClr val="F7A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80760" y="237744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LED · GPIO 26</a:t>
            </a:r>
          </a:p>
        </p:txBody>
      </p:sp>
      <p:sp>
        <p:nvSpPr>
          <p:cNvPr id="33" name="Device Box"/>
          <p:cNvSpPr/>
          <p:nvPr/>
        </p:nvSpPr>
        <p:spPr>
          <a:xfrm>
            <a:off x="5989320" y="2825496"/>
            <a:ext cx="2788920" cy="384048"/>
          </a:xfrm>
          <a:prstGeom prst="rect">
            <a:avLst/>
          </a:prstGeom>
          <a:solidFill>
            <a:srgbClr val="FFF2CC"/>
          </a:solidFill>
          <a:ln w="9525">
            <a:solidFill>
              <a:srgbClr val="F7A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80760" y="2825496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Passive Buzzer · GPIO 25</a:t>
            </a:r>
          </a:p>
        </p:txBody>
      </p:sp>
      <p:sp>
        <p:nvSpPr>
          <p:cNvPr id="35" name="Device Box"/>
          <p:cNvSpPr/>
          <p:nvPr/>
        </p:nvSpPr>
        <p:spPr>
          <a:xfrm>
            <a:off x="5989320" y="3392424"/>
            <a:ext cx="2788920" cy="384048"/>
          </a:xfrm>
          <a:prstGeom prst="rect">
            <a:avLst/>
          </a:prstGeom>
          <a:solidFill>
            <a:srgbClr val="E3F1E3"/>
          </a:solidFill>
          <a:ln w="9525">
            <a:solidFill>
              <a:srgbClr val="8BB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80760" y="3392424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IR Sensor · GPIO 34</a:t>
            </a:r>
          </a:p>
        </p:txBody>
      </p:sp>
      <p:sp>
        <p:nvSpPr>
          <p:cNvPr id="37" name="Device Box"/>
          <p:cNvSpPr/>
          <p:nvPr/>
        </p:nvSpPr>
        <p:spPr>
          <a:xfrm>
            <a:off x="5989320" y="3840480"/>
            <a:ext cx="2788920" cy="384048"/>
          </a:xfrm>
          <a:prstGeom prst="rect">
            <a:avLst/>
          </a:prstGeom>
          <a:solidFill>
            <a:srgbClr val="E3F1E3"/>
          </a:solidFill>
          <a:ln w="9525">
            <a:solidFill>
              <a:srgbClr val="8BB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80760" y="384048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I2C LCD · SDA 32 / SCL 33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257800" y="1106424"/>
            <a:ext cx="731520" cy="0"/>
          </a:xfrm>
          <a:prstGeom prst="line">
            <a:avLst/>
          </a:prstGeom>
          <a:ln w="19050">
            <a:solidFill>
              <a:srgbClr val="1E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257800" y="1554480"/>
            <a:ext cx="731520" cy="0"/>
          </a:xfrm>
          <a:prstGeom prst="line">
            <a:avLst/>
          </a:prstGeom>
          <a:ln w="19050">
            <a:solidFill>
              <a:srgbClr val="1E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257800" y="2002536"/>
            <a:ext cx="731520" cy="0"/>
          </a:xfrm>
          <a:prstGeom prst="line">
            <a:avLst/>
          </a:prstGeom>
          <a:ln w="19050">
            <a:solidFill>
              <a:srgbClr val="1E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257800" y="2569464"/>
            <a:ext cx="731520" cy="0"/>
          </a:xfrm>
          <a:prstGeom prst="line">
            <a:avLst/>
          </a:prstGeom>
          <a:ln w="19050">
            <a:solidFill>
              <a:srgbClr val="1E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257800" y="3017520"/>
            <a:ext cx="731520" cy="0"/>
          </a:xfrm>
          <a:prstGeom prst="line">
            <a:avLst/>
          </a:prstGeom>
          <a:ln w="19050">
            <a:solidFill>
              <a:srgbClr val="1E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257800" y="3584448"/>
            <a:ext cx="731520" cy="0"/>
          </a:xfrm>
          <a:prstGeom prst="line">
            <a:avLst/>
          </a:prstGeom>
          <a:ln w="19050">
            <a:solidFill>
              <a:srgbClr val="1E4E7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257800" y="4032504"/>
            <a:ext cx="731520" cy="0"/>
          </a:xfrm>
          <a:prstGeom prst="line">
            <a:avLst/>
          </a:prstGeom>
          <a:ln w="19050">
            <a:solidFill>
              <a:srgbClr val="1E4E7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989320" y="4288536"/>
            <a:ext cx="2788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Blue: motion · Amber: alerts · Green: sensing and display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System Working Flow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ntent Panel"/>
          <p:cNvSpPr/>
          <p:nvPr/>
        </p:nvSpPr>
        <p:spPr>
          <a:xfrm>
            <a:off x="182880" y="804672"/>
            <a:ext cx="8778240" cy="3840480"/>
          </a:xfrm>
          <a:prstGeom prst="rect">
            <a:avLst/>
          </a:prstGeom>
          <a:solidFill>
            <a:srgbClr val="F7F8FC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8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9</a:t>
            </a:r>
          </a:p>
        </p:txBody>
      </p:sp>
      <p:sp>
        <p:nvSpPr>
          <p:cNvPr id="10" name="Phase Panel"/>
          <p:cNvSpPr/>
          <p:nvPr/>
        </p:nvSpPr>
        <p:spPr>
          <a:xfrm>
            <a:off x="320040" y="914400"/>
            <a:ext cx="242316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Phase Header"/>
          <p:cNvSpPr/>
          <p:nvPr/>
        </p:nvSpPr>
        <p:spPr>
          <a:xfrm>
            <a:off x="320040" y="914400"/>
            <a:ext cx="2423160" cy="292608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79" y="914400"/>
            <a:ext cx="224027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SETUP</a:t>
            </a:r>
          </a:p>
        </p:txBody>
      </p:sp>
      <p:sp>
        <p:nvSpPr>
          <p:cNvPr id="13" name="Badge"/>
          <p:cNvSpPr/>
          <p:nvPr/>
        </p:nvSpPr>
        <p:spPr>
          <a:xfrm>
            <a:off x="393192" y="1335024"/>
            <a:ext cx="246888" cy="246888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1298448"/>
            <a:ext cx="1965960" cy="493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ESP32 powers ON and connects to Wi-Fi</a:t>
            </a:r>
          </a:p>
        </p:txBody>
      </p:sp>
      <p:sp>
        <p:nvSpPr>
          <p:cNvPr id="15" name="Badge"/>
          <p:cNvSpPr/>
          <p:nvPr/>
        </p:nvSpPr>
        <p:spPr>
          <a:xfrm>
            <a:off x="393192" y="1865376"/>
            <a:ext cx="246888" cy="246888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1828800"/>
            <a:ext cx="1965960" cy="493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Current date and time obtained via NTP</a:t>
            </a:r>
          </a:p>
        </p:txBody>
      </p:sp>
      <p:sp>
        <p:nvSpPr>
          <p:cNvPr id="17" name="Badge"/>
          <p:cNvSpPr/>
          <p:nvPr/>
        </p:nvSpPr>
        <p:spPr>
          <a:xfrm>
            <a:off x="393192" y="2395728"/>
            <a:ext cx="246888" cy="246888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359152"/>
            <a:ext cx="1965960" cy="493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User enters medicine names and times on the dashboard</a:t>
            </a:r>
          </a:p>
        </p:txBody>
      </p:sp>
      <p:sp>
        <p:nvSpPr>
          <p:cNvPr id="19" name="Badge"/>
          <p:cNvSpPr/>
          <p:nvPr/>
        </p:nvSpPr>
        <p:spPr>
          <a:xfrm>
            <a:off x="393192" y="2926080"/>
            <a:ext cx="246888" cy="246888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2889504"/>
            <a:ext cx="1965960" cy="493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Dashboard sends the schedule to the ESP32</a:t>
            </a:r>
          </a:p>
        </p:txBody>
      </p:sp>
      <p:sp>
        <p:nvSpPr>
          <p:cNvPr id="21" name="Badge"/>
          <p:cNvSpPr/>
          <p:nvPr/>
        </p:nvSpPr>
        <p:spPr>
          <a:xfrm>
            <a:off x="393192" y="3456432"/>
            <a:ext cx="246888" cy="246888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3419856"/>
            <a:ext cx="1965960" cy="493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ESP32 stores schedules for the six slots</a:t>
            </a:r>
          </a:p>
        </p:txBody>
      </p:sp>
      <p:sp>
        <p:nvSpPr>
          <p:cNvPr id="23" name="Phase Panel"/>
          <p:cNvSpPr/>
          <p:nvPr/>
        </p:nvSpPr>
        <p:spPr>
          <a:xfrm>
            <a:off x="2871216" y="914400"/>
            <a:ext cx="192024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Phase Header"/>
          <p:cNvSpPr/>
          <p:nvPr/>
        </p:nvSpPr>
        <p:spPr>
          <a:xfrm>
            <a:off x="2871216" y="914400"/>
            <a:ext cx="1920240" cy="292608"/>
          </a:xfrm>
          <a:prstGeom prst="rect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62656" y="91440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SCHEDULE MATCH</a:t>
            </a:r>
          </a:p>
        </p:txBody>
      </p:sp>
      <p:sp>
        <p:nvSpPr>
          <p:cNvPr id="26" name="Badge"/>
          <p:cNvSpPr/>
          <p:nvPr/>
        </p:nvSpPr>
        <p:spPr>
          <a:xfrm>
            <a:off x="2944368" y="1335024"/>
            <a:ext cx="246888" cy="246888"/>
          </a:xfrm>
          <a:prstGeom prst="ellipse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55264" y="1298448"/>
            <a:ext cx="146304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ESP32 keeps comparing current time with scheduled times</a:t>
            </a:r>
          </a:p>
        </p:txBody>
      </p:sp>
      <p:sp>
        <p:nvSpPr>
          <p:cNvPr id="28" name="Badge"/>
          <p:cNvSpPr/>
          <p:nvPr/>
        </p:nvSpPr>
        <p:spPr>
          <a:xfrm>
            <a:off x="2944368" y="2157984"/>
            <a:ext cx="246888" cy="246888"/>
          </a:xfrm>
          <a:prstGeom prst="ellipse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55264" y="2121408"/>
            <a:ext cx="146304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On a match, carousel servo moves to the matching slot</a:t>
            </a:r>
          </a:p>
        </p:txBody>
      </p:sp>
      <p:sp>
        <p:nvSpPr>
          <p:cNvPr id="30" name="Badge"/>
          <p:cNvSpPr/>
          <p:nvPr/>
        </p:nvSpPr>
        <p:spPr>
          <a:xfrm>
            <a:off x="2944368" y="2980944"/>
            <a:ext cx="246888" cy="246888"/>
          </a:xfrm>
          <a:prstGeom prst="ellipse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55264" y="2944368"/>
            <a:ext cx="146304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LED and buzzer alert the user</a:t>
            </a:r>
          </a:p>
        </p:txBody>
      </p:sp>
      <p:sp>
        <p:nvSpPr>
          <p:cNvPr id="32" name="Phase Panel"/>
          <p:cNvSpPr/>
          <p:nvPr/>
        </p:nvSpPr>
        <p:spPr>
          <a:xfrm>
            <a:off x="4919472" y="914400"/>
            <a:ext cx="192024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Phase Header"/>
          <p:cNvSpPr/>
          <p:nvPr/>
        </p:nvSpPr>
        <p:spPr>
          <a:xfrm>
            <a:off x="4919472" y="914400"/>
            <a:ext cx="1920240" cy="29260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10912" y="91440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DISPENSE</a:t>
            </a:r>
          </a:p>
        </p:txBody>
      </p:sp>
      <p:sp>
        <p:nvSpPr>
          <p:cNvPr id="35" name="Badge"/>
          <p:cNvSpPr/>
          <p:nvPr/>
        </p:nvSpPr>
        <p:spPr>
          <a:xfrm>
            <a:off x="4992624" y="1335024"/>
            <a:ext cx="246888" cy="24688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1298448"/>
            <a:ext cx="146304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IR sensor monitors the dispensing area</a:t>
            </a:r>
          </a:p>
        </p:txBody>
      </p:sp>
      <p:sp>
        <p:nvSpPr>
          <p:cNvPr id="37" name="Badge"/>
          <p:cNvSpPr/>
          <p:nvPr/>
        </p:nvSpPr>
        <p:spPr>
          <a:xfrm>
            <a:off x="4992624" y="2157984"/>
            <a:ext cx="246888" cy="24688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2121408"/>
            <a:ext cx="146304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Hand detected: the matching gate servo opens</a:t>
            </a:r>
          </a:p>
        </p:txBody>
      </p:sp>
      <p:sp>
        <p:nvSpPr>
          <p:cNvPr id="39" name="Badge"/>
          <p:cNvSpPr/>
          <p:nvPr/>
        </p:nvSpPr>
        <p:spPr>
          <a:xfrm>
            <a:off x="4992624" y="2980944"/>
            <a:ext cx="246888" cy="24688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2944368"/>
            <a:ext cx="146304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Gate stays open for the set duration, then closes</a:t>
            </a:r>
          </a:p>
        </p:txBody>
      </p:sp>
      <p:sp>
        <p:nvSpPr>
          <p:cNvPr id="41" name="Phase Panel"/>
          <p:cNvSpPr/>
          <p:nvPr/>
        </p:nvSpPr>
        <p:spPr>
          <a:xfrm>
            <a:off x="6967728" y="914400"/>
            <a:ext cx="178308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Phase Header"/>
          <p:cNvSpPr/>
          <p:nvPr/>
        </p:nvSpPr>
        <p:spPr>
          <a:xfrm>
            <a:off x="6967728" y="914400"/>
            <a:ext cx="1783080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59168" y="91440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UPDATE</a:t>
            </a:r>
          </a:p>
        </p:txBody>
      </p:sp>
      <p:sp>
        <p:nvSpPr>
          <p:cNvPr id="44" name="Badge"/>
          <p:cNvSpPr/>
          <p:nvPr/>
        </p:nvSpPr>
        <p:spPr>
          <a:xfrm>
            <a:off x="7040880" y="1335024"/>
            <a:ext cx="246888" cy="2468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1776" y="1298448"/>
            <a:ext cx="1325880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ESP32 updates the dispensing status</a:t>
            </a:r>
          </a:p>
        </p:txBody>
      </p:sp>
      <p:sp>
        <p:nvSpPr>
          <p:cNvPr id="46" name="Badge"/>
          <p:cNvSpPr/>
          <p:nvPr/>
        </p:nvSpPr>
        <p:spPr>
          <a:xfrm>
            <a:off x="7040880" y="2340864"/>
            <a:ext cx="246888" cy="2468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51776" y="2304288"/>
            <a:ext cx="1325880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Dashboard shows the updated status and history</a:t>
            </a:r>
          </a:p>
        </p:txBody>
      </p:sp>
      <p:sp>
        <p:nvSpPr>
          <p:cNvPr id="48" name="IR Note"/>
          <p:cNvSpPr/>
          <p:nvPr/>
        </p:nvSpPr>
        <p:spPr>
          <a:xfrm>
            <a:off x="320040" y="4005072"/>
            <a:ext cx="8503920" cy="612648"/>
          </a:xfrm>
          <a:prstGeom prst="rect">
            <a:avLst/>
          </a:prstGeom>
          <a:solidFill>
            <a:srgbClr val="FFF2CC"/>
          </a:solidFill>
          <a:ln w="9525">
            <a:solidFill>
              <a:srgbClr val="F7A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4005072"/>
            <a:ext cx="8229600" cy="6126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B71C1C"/>
                </a:solidFill>
                <a:latin typeface="Calibri"/>
              </a:rPr>
              <a:t>Technical note: </a:t>
            </a:r>
            <a:r>
              <a:rPr sz="1150" b="0" i="0">
                <a:solidFill>
                  <a:srgbClr val="1F2937"/>
                </a:solidFill>
                <a:latin typeface="Calibri"/>
              </a:rPr>
              <a:t>IR detection only shows that a hand was detected near the dispensing area (pickup detected). It does not independently prove the medicine was swallowed or consumed.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Hardware Components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ntent Panel"/>
          <p:cNvSpPr/>
          <p:nvPr/>
        </p:nvSpPr>
        <p:spPr>
          <a:xfrm>
            <a:off x="182880" y="804672"/>
            <a:ext cx="8778240" cy="3840480"/>
          </a:xfrm>
          <a:prstGeom prst="rect">
            <a:avLst/>
          </a:prstGeom>
          <a:solidFill>
            <a:srgbClr val="F7F8FC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8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10</a:t>
            </a:r>
          </a:p>
        </p:txBody>
      </p:sp>
      <p:sp>
        <p:nvSpPr>
          <p:cNvPr id="10" name="Kicker"/>
          <p:cNvSpPr txBox="1"/>
          <p:nvPr/>
        </p:nvSpPr>
        <p:spPr>
          <a:xfrm>
            <a:off x="365760" y="85953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6E7F"/>
                </a:solidFill>
                <a:latin typeface="Calibri"/>
              </a:rPr>
              <a:t>SYSTEM REQUIREMENTS</a:t>
            </a:r>
          </a:p>
        </p:txBody>
      </p:sp>
      <p:sp>
        <p:nvSpPr>
          <p:cNvPr id="11" name="Component Card"/>
          <p:cNvSpPr/>
          <p:nvPr/>
        </p:nvSpPr>
        <p:spPr>
          <a:xfrm>
            <a:off x="365760" y="1097280"/>
            <a:ext cx="2011680" cy="1627632"/>
          </a:xfrm>
          <a:prstGeom prst="rect">
            <a:avLst/>
          </a:prstGeom>
          <a:solidFill>
            <a:srgbClr val="FFF2CC"/>
          </a:solidFill>
          <a:ln w="9525">
            <a:solidFill>
              <a:srgbClr val="F7A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170432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D1F3C"/>
                </a:solidFill>
                <a:latin typeface="Calibri"/>
              </a:rPr>
              <a:t>ESP32 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481328"/>
            <a:ext cx="179222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Main controller with built-in Wi-Fi; runs the HTTP server, schedule logic and device control.</a:t>
            </a:r>
          </a:p>
        </p:txBody>
      </p:sp>
      <p:sp>
        <p:nvSpPr>
          <p:cNvPr id="14" name="Component Card"/>
          <p:cNvSpPr/>
          <p:nvPr/>
        </p:nvSpPr>
        <p:spPr>
          <a:xfrm>
            <a:off x="2487168" y="1097280"/>
            <a:ext cx="2011680" cy="1627632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96896" y="1170432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4E79"/>
                </a:solidFill>
                <a:latin typeface="Calibri"/>
              </a:rPr>
              <a:t>Servo Motors (×3)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1481328"/>
            <a:ext cx="179222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Carousel Servo positions the slot; Gate Servo 1 and Gate Servo 2 open the dispensing gates.</a:t>
            </a:r>
          </a:p>
        </p:txBody>
      </p:sp>
      <p:sp>
        <p:nvSpPr>
          <p:cNvPr id="17" name="GPIO Tag"/>
          <p:cNvSpPr/>
          <p:nvPr/>
        </p:nvSpPr>
        <p:spPr>
          <a:xfrm>
            <a:off x="2596896" y="2395728"/>
            <a:ext cx="1792224" cy="237744"/>
          </a:xfrm>
          <a:prstGeom prst="round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96896" y="2395728"/>
            <a:ext cx="17922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GPIO 23 · 18 · 19</a:t>
            </a:r>
          </a:p>
        </p:txBody>
      </p:sp>
      <p:sp>
        <p:nvSpPr>
          <p:cNvPr id="19" name="Component Card"/>
          <p:cNvSpPr/>
          <p:nvPr/>
        </p:nvSpPr>
        <p:spPr>
          <a:xfrm>
            <a:off x="4608576" y="1097280"/>
            <a:ext cx="2011680" cy="1627632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18304" y="1170432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4E79"/>
                </a:solidFill>
                <a:latin typeface="Calibri"/>
              </a:rPr>
              <a:t>IR Sensor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4" y="1481328"/>
            <a:ext cx="179222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Detects the user's hand near the medicine dispensing area.</a:t>
            </a:r>
          </a:p>
        </p:txBody>
      </p:sp>
      <p:sp>
        <p:nvSpPr>
          <p:cNvPr id="22" name="GPIO Tag"/>
          <p:cNvSpPr/>
          <p:nvPr/>
        </p:nvSpPr>
        <p:spPr>
          <a:xfrm>
            <a:off x="4718304" y="2395728"/>
            <a:ext cx="1792224" cy="237744"/>
          </a:xfrm>
          <a:prstGeom prst="round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18304" y="2395728"/>
            <a:ext cx="17922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OUT: GPIO 34</a:t>
            </a:r>
          </a:p>
        </p:txBody>
      </p:sp>
      <p:sp>
        <p:nvSpPr>
          <p:cNvPr id="24" name="Component Card"/>
          <p:cNvSpPr/>
          <p:nvPr/>
        </p:nvSpPr>
        <p:spPr>
          <a:xfrm>
            <a:off x="6729983" y="1097280"/>
            <a:ext cx="2011680" cy="1627632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39712" y="1170432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4E79"/>
                </a:solidFill>
                <a:latin typeface="Calibri"/>
              </a:rPr>
              <a:t>16×2 LCD (I2C)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1481328"/>
            <a:ext cx="179222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Displays system information and status in the base unit.</a:t>
            </a:r>
          </a:p>
        </p:txBody>
      </p:sp>
      <p:sp>
        <p:nvSpPr>
          <p:cNvPr id="27" name="GPIO Tag"/>
          <p:cNvSpPr/>
          <p:nvPr/>
        </p:nvSpPr>
        <p:spPr>
          <a:xfrm>
            <a:off x="6839712" y="2395728"/>
            <a:ext cx="1792224" cy="237744"/>
          </a:xfrm>
          <a:prstGeom prst="round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39712" y="2395728"/>
            <a:ext cx="17922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SDA 32 · SCL 33</a:t>
            </a:r>
          </a:p>
        </p:txBody>
      </p:sp>
      <p:sp>
        <p:nvSpPr>
          <p:cNvPr id="29" name="Component Card"/>
          <p:cNvSpPr/>
          <p:nvPr/>
        </p:nvSpPr>
        <p:spPr>
          <a:xfrm>
            <a:off x="365760" y="2834639"/>
            <a:ext cx="2011680" cy="1627632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" y="2907791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4E79"/>
                </a:solidFill>
                <a:latin typeface="Calibri"/>
              </a:rPr>
              <a:t>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3218687"/>
            <a:ext cx="179222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Visual medicine reminder at the scheduled time.</a:t>
            </a:r>
          </a:p>
        </p:txBody>
      </p:sp>
      <p:sp>
        <p:nvSpPr>
          <p:cNvPr id="32" name="GPIO Tag"/>
          <p:cNvSpPr/>
          <p:nvPr/>
        </p:nvSpPr>
        <p:spPr>
          <a:xfrm>
            <a:off x="475488" y="4133087"/>
            <a:ext cx="1792224" cy="237744"/>
          </a:xfrm>
          <a:prstGeom prst="round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5488" y="4133087"/>
            <a:ext cx="17922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GPIO 26</a:t>
            </a:r>
          </a:p>
        </p:txBody>
      </p:sp>
      <p:sp>
        <p:nvSpPr>
          <p:cNvPr id="34" name="Component Card"/>
          <p:cNvSpPr/>
          <p:nvPr/>
        </p:nvSpPr>
        <p:spPr>
          <a:xfrm>
            <a:off x="2487168" y="2834639"/>
            <a:ext cx="2011680" cy="1627632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96896" y="2907791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4E79"/>
                </a:solidFill>
                <a:latin typeface="Calibri"/>
              </a:rPr>
              <a:t>Passive Buzzer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6896" y="3218687"/>
            <a:ext cx="179222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Audio medicine reminder at the scheduled time.</a:t>
            </a:r>
          </a:p>
        </p:txBody>
      </p:sp>
      <p:sp>
        <p:nvSpPr>
          <p:cNvPr id="37" name="GPIO Tag"/>
          <p:cNvSpPr/>
          <p:nvPr/>
        </p:nvSpPr>
        <p:spPr>
          <a:xfrm>
            <a:off x="2596896" y="4133087"/>
            <a:ext cx="1792224" cy="237744"/>
          </a:xfrm>
          <a:prstGeom prst="round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596896" y="4133087"/>
            <a:ext cx="17922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GPIO 25</a:t>
            </a:r>
          </a:p>
        </p:txBody>
      </p:sp>
      <p:sp>
        <p:nvSpPr>
          <p:cNvPr id="39" name="Component Card"/>
          <p:cNvSpPr/>
          <p:nvPr/>
        </p:nvSpPr>
        <p:spPr>
          <a:xfrm>
            <a:off x="4608576" y="2834639"/>
            <a:ext cx="2011680" cy="1627632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18304" y="2907791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4E79"/>
                </a:solidFill>
                <a:latin typeface="Calibri"/>
              </a:rPr>
              <a:t>Medicine Carousel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18304" y="3218687"/>
            <a:ext cx="179222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Physical storage with six medicine slots, split across two dispensing gates.</a:t>
            </a:r>
          </a:p>
        </p:txBody>
      </p:sp>
      <p:sp>
        <p:nvSpPr>
          <p:cNvPr id="42" name="GPIO Tag"/>
          <p:cNvSpPr/>
          <p:nvPr/>
        </p:nvSpPr>
        <p:spPr>
          <a:xfrm>
            <a:off x="4718304" y="4133087"/>
            <a:ext cx="1792224" cy="237744"/>
          </a:xfrm>
          <a:prstGeom prst="round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18304" y="4133087"/>
            <a:ext cx="17922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 slots · 2 gates</a:t>
            </a:r>
          </a:p>
        </p:txBody>
      </p:sp>
      <p:sp>
        <p:nvSpPr>
          <p:cNvPr id="44" name="Component Card"/>
          <p:cNvSpPr/>
          <p:nvPr/>
        </p:nvSpPr>
        <p:spPr>
          <a:xfrm>
            <a:off x="6729983" y="2834639"/>
            <a:ext cx="2011680" cy="1627632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39712" y="2907791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4E79"/>
                </a:solidFill>
                <a:latin typeface="Calibri"/>
              </a:rPr>
              <a:t>Power Supply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3218687"/>
            <a:ext cx="179222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External supply / battery powers the ESP32 and servos through suitable voltage regulation.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Software Requirements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ntent Panel"/>
          <p:cNvSpPr/>
          <p:nvPr/>
        </p:nvSpPr>
        <p:spPr>
          <a:xfrm>
            <a:off x="182880" y="804672"/>
            <a:ext cx="8778240" cy="3840480"/>
          </a:xfrm>
          <a:prstGeom prst="rect">
            <a:avLst/>
          </a:prstGeom>
          <a:solidFill>
            <a:srgbClr val="F7F8FC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8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11</a:t>
            </a:r>
          </a:p>
        </p:txBody>
      </p:sp>
      <p:sp>
        <p:nvSpPr>
          <p:cNvPr id="10" name="Kicker"/>
          <p:cNvSpPr txBox="1"/>
          <p:nvPr/>
        </p:nvSpPr>
        <p:spPr>
          <a:xfrm>
            <a:off x="365760" y="85953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6E7F"/>
                </a:solidFill>
                <a:latin typeface="Calibri"/>
              </a:rPr>
              <a:t>SOFTWARE STACK</a:t>
            </a:r>
          </a:p>
        </p:txBody>
      </p:sp>
      <p:sp>
        <p:nvSpPr>
          <p:cNvPr id="11" name="Card"/>
          <p:cNvSpPr/>
          <p:nvPr/>
        </p:nvSpPr>
        <p:spPr>
          <a:xfrm>
            <a:off x="365760" y="1097280"/>
            <a:ext cx="2743200" cy="2880360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Card Header"/>
          <p:cNvSpPr/>
          <p:nvPr/>
        </p:nvSpPr>
        <p:spPr>
          <a:xfrm>
            <a:off x="365760" y="1097280"/>
            <a:ext cx="2743200" cy="2743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Card Title"/>
          <p:cNvSpPr txBox="1"/>
          <p:nvPr/>
        </p:nvSpPr>
        <p:spPr>
          <a:xfrm>
            <a:off x="457200" y="10972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ESP32 FIRMWARE</a:t>
            </a:r>
          </a:p>
        </p:txBody>
      </p:sp>
      <p:sp>
        <p:nvSpPr>
          <p:cNvPr id="14" name="Card Body"/>
          <p:cNvSpPr txBox="1"/>
          <p:nvPr/>
        </p:nvSpPr>
        <p:spPr>
          <a:xfrm>
            <a:off x="475488" y="1444752"/>
            <a:ext cx="2523744" cy="2478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Wi-Fi connectivity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HTTP web server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NTP date and time synchronisation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Six-slot schedule management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Carousel and gate servo control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LED, buzzer, LCD and IR handling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Status reporting to the dashboard</a:t>
            </a:r>
          </a:p>
        </p:txBody>
      </p:sp>
      <p:sp>
        <p:nvSpPr>
          <p:cNvPr id="15" name="Card"/>
          <p:cNvSpPr/>
          <p:nvPr/>
        </p:nvSpPr>
        <p:spPr>
          <a:xfrm>
            <a:off x="3200400" y="1097280"/>
            <a:ext cx="2743200" cy="2880360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Card Header"/>
          <p:cNvSpPr/>
          <p:nvPr/>
        </p:nvSpPr>
        <p:spPr>
          <a:xfrm>
            <a:off x="3200400" y="1097280"/>
            <a:ext cx="2743200" cy="274320"/>
          </a:xfrm>
          <a:prstGeom prst="rect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Card Title"/>
          <p:cNvSpPr txBox="1"/>
          <p:nvPr/>
        </p:nvSpPr>
        <p:spPr>
          <a:xfrm>
            <a:off x="3291840" y="10972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WEB DASHBOARD</a:t>
            </a:r>
          </a:p>
        </p:txBody>
      </p:sp>
      <p:sp>
        <p:nvSpPr>
          <p:cNvPr id="18" name="Card Body"/>
          <p:cNvSpPr txBox="1"/>
          <p:nvPr/>
        </p:nvSpPr>
        <p:spPr>
          <a:xfrm>
            <a:off x="3310128" y="1444752"/>
            <a:ext cx="2523744" cy="2478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Medicine slot configuration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Medicine name entry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Schedule / time selection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ESP32 connection test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Time synchronisation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Live status monitoring (periodic polling)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Dispensing history</a:t>
            </a:r>
          </a:p>
        </p:txBody>
      </p:sp>
      <p:sp>
        <p:nvSpPr>
          <p:cNvPr id="19" name="Card"/>
          <p:cNvSpPr/>
          <p:nvPr/>
        </p:nvSpPr>
        <p:spPr>
          <a:xfrm>
            <a:off x="6035040" y="1097280"/>
            <a:ext cx="2743200" cy="2880360"/>
          </a:xfrm>
          <a:prstGeom prst="rect">
            <a:avLst/>
          </a:prstGeom>
          <a:solidFill>
            <a:srgbClr val="FFF2CC"/>
          </a:solidFill>
          <a:ln w="9525">
            <a:solidFill>
              <a:srgbClr val="F7A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Card Header"/>
          <p:cNvSpPr/>
          <p:nvPr/>
        </p:nvSpPr>
        <p:spPr>
          <a:xfrm>
            <a:off x="6035040" y="1097280"/>
            <a:ext cx="2743200" cy="2743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Card Title"/>
          <p:cNvSpPr txBox="1"/>
          <p:nvPr/>
        </p:nvSpPr>
        <p:spPr>
          <a:xfrm>
            <a:off x="6126479" y="10972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PROPOSED SOFTWARE LAYER</a:t>
            </a:r>
          </a:p>
        </p:txBody>
      </p:sp>
      <p:sp>
        <p:nvSpPr>
          <p:cNvPr id="22" name="Card Body"/>
          <p:cNvSpPr txBox="1"/>
          <p:nvPr/>
        </p:nvSpPr>
        <p:spPr>
          <a:xfrm>
            <a:off x="6144768" y="1444752"/>
            <a:ext cx="2523744" cy="2478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OCR (Tesseract) for medical reports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AI/ML disease-risk models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Backend and database for prescriptions, reports and dose records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Role-based views: Patient, Doctor, Nurse/Family, CHO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Missed-dose notifications (Telegram planned)</a:t>
            </a:r>
          </a:p>
        </p:txBody>
      </p:sp>
      <p:sp>
        <p:nvSpPr>
          <p:cNvPr id="23" name="Status Banner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0D060"/>
                </a:solidFill>
                <a:latin typeface="Calibri"/>
              </a:rPr>
              <a:t>Status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Firmware and dashboard are implemented; the proposed layer is the next development stage.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Project Specifications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7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8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12</a:t>
            </a:r>
          </a:p>
        </p:txBody>
      </p:sp>
      <p:graphicFrame>
        <p:nvGraphicFramePr>
          <p:cNvPr id="9" name="Data Table"/>
          <p:cNvGraphicFramePr>
            <a:graphicFrameLocks noGrp="1"/>
          </p:cNvGraphicFramePr>
          <p:nvPr/>
        </p:nvGraphicFramePr>
        <p:xfrm>
          <a:off x="365760" y="896112"/>
          <a:ext cx="8412480" cy="36255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Specification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Calibri"/>
                        </a:rPr>
                        <a:t>Project Name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AI-Based NCD Prediction and Smart Medicine Reminder System using IoT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Calibri"/>
                        </a:rPr>
                        <a:t>Controller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ESP32 Development Board with Wi-Fi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Calibri"/>
                        </a:rPr>
                        <a:t>Actuators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3 servo motors: Carousel Servo, Gate Servo 1, Gate Servo 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Calibri"/>
                        </a:rPr>
                        <a:t>Sensor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IR sensor for hand detection at the dispensing area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Calibri"/>
                        </a:rPr>
                        <a:t>Display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16×2 LCD with I2C interface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Calibri"/>
                        </a:rPr>
                        <a:t>Alert Output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LED (visual) and passive buzzer (audio)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Calibri"/>
                        </a:rPr>
                        <a:t>Medicine Slots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6 slots; Gate 1 serves slots 1–3, Gate 2 serves slots 4–6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Calibri"/>
                        </a:rPr>
                        <a:t>Time Source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ESP32 Wi-Fi NTP synchronisation (DS3231 RTC planned)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Calibri"/>
                        </a:rPr>
                        <a:t>Communication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HTTP endpoints over Wi-Fi between dashboard and ESP32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Web dashboard: slot configuration, status monitoring, history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Calibri"/>
                        </a:rPr>
                        <a:t>Power Supply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External supply / battery with suitable voltage regulation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Calibri"/>
                        </a:rPr>
                        <a:t>Main Functions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Scheduled reminders, carousel positioning, gated dispensing, pickup detection, status monitoring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Pin Configuration &amp; Slot Mapping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7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8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86868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6E7F"/>
                </a:solidFill>
                <a:latin typeface="Calibri"/>
              </a:rPr>
              <a:t>ESP32 PIN CONFIGURATION</a:t>
            </a:r>
          </a:p>
        </p:txBody>
      </p:sp>
      <p:graphicFrame>
        <p:nvGraphicFramePr>
          <p:cNvPr id="10" name="Data Table"/>
          <p:cNvGraphicFramePr>
            <a:graphicFrameLocks noGrp="1"/>
          </p:cNvGraphicFramePr>
          <p:nvPr/>
        </p:nvGraphicFramePr>
        <p:xfrm>
          <a:off x="365760" y="1097280"/>
          <a:ext cx="3931920" cy="29626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ESP32 GPIO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Calibri"/>
                        </a:rPr>
                        <a:t>Gate Servo 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GPIO 18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Calibri"/>
                        </a:rPr>
                        <a:t>Gate Servo 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GPIO 19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Calibri"/>
                        </a:rPr>
                        <a:t>Carousel Servo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GPIO 23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Calibri"/>
                        </a:rPr>
                        <a:t>IR Sensor OUT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GPIO 34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Calibri"/>
                        </a:rPr>
                        <a:t>LED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GPIO 26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Calibri"/>
                        </a:rPr>
                        <a:t>Passive Buzzer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GPIO 25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Calibri"/>
                        </a:rPr>
                        <a:t>LCD SDA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GPIO 32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Calibri"/>
                        </a:rPr>
                        <a:t>LCD SCL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GPIO 33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63440" y="86868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6E7F"/>
                </a:solidFill>
                <a:latin typeface="Calibri"/>
              </a:rPr>
              <a:t>MEDICINE SLOT MAPPING</a:t>
            </a:r>
          </a:p>
        </p:txBody>
      </p:sp>
      <p:graphicFrame>
        <p:nvGraphicFramePr>
          <p:cNvPr id="12" name="Data Table"/>
          <p:cNvGraphicFramePr>
            <a:graphicFrameLocks noGrp="1"/>
          </p:cNvGraphicFramePr>
          <p:nvPr/>
        </p:nvGraphicFramePr>
        <p:xfrm>
          <a:off x="4663440" y="1097280"/>
          <a:ext cx="4114800" cy="23042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Medicine Slot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Carousel Angle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Calibri"/>
                        </a:rPr>
                        <a:t>Slot 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0°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Gate 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Calibri"/>
                        </a:rPr>
                        <a:t>Slot 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60°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Gate 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Calibri"/>
                        </a:rPr>
                        <a:t>Slot 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120°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Gate 1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Calibri"/>
                        </a:rPr>
                        <a:t>Slot 4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0°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Gate 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Calibri"/>
                        </a:rPr>
                        <a:t>Slot 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60°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Gate 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F2937"/>
                          </a:solidFill>
                          <a:latin typeface="Calibri"/>
                        </a:rPr>
                        <a:t>Slot 6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120°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Calibri"/>
                        </a:rPr>
                        <a:t>Gate 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Mapping Note"/>
          <p:cNvSpPr/>
          <p:nvPr/>
        </p:nvSpPr>
        <p:spPr>
          <a:xfrm>
            <a:off x="4663440" y="3566160"/>
            <a:ext cx="4114800" cy="914400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3566160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E4E79"/>
                </a:solidFill>
                <a:latin typeface="Calibri"/>
              </a:rPr>
              <a:t>How it works: </a:t>
            </a:r>
            <a:r>
              <a:rPr sz="1150" b="0" i="0">
                <a:solidFill>
                  <a:srgbClr val="1F2937"/>
                </a:solidFill>
                <a:latin typeface="Calibri"/>
              </a:rPr>
              <a:t>the carousel servo rotates to the slot angle, and the gate servo of that slot's group (Gate 1 or Gate 2) opens to dispense.</a:t>
            </a:r>
          </a:p>
        </p:txBody>
      </p:sp>
      <p:sp>
        <p:nvSpPr>
          <p:cNvPr id="15" name="Pin Note"/>
          <p:cNvSpPr/>
          <p:nvPr/>
        </p:nvSpPr>
        <p:spPr>
          <a:xfrm>
            <a:off x="365760" y="4206240"/>
            <a:ext cx="3931920" cy="365760"/>
          </a:xfrm>
          <a:prstGeom prst="rect">
            <a:avLst/>
          </a:prstGeom>
          <a:solidFill>
            <a:srgbClr val="FFF2CC"/>
          </a:solidFill>
          <a:ln w="9525">
            <a:solidFill>
              <a:srgbClr val="F7A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Calibri"/>
              </a:rPr>
              <a:t>Pin map of the current standalone implementation.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Prototype &amp; Sensor Placement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ntent Panel"/>
          <p:cNvSpPr/>
          <p:nvPr/>
        </p:nvSpPr>
        <p:spPr>
          <a:xfrm>
            <a:off x="182880" y="804672"/>
            <a:ext cx="8778240" cy="3840480"/>
          </a:xfrm>
          <a:prstGeom prst="rect">
            <a:avLst/>
          </a:prstGeom>
          <a:solidFill>
            <a:srgbClr val="F7F8FC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8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14</a:t>
            </a:r>
          </a:p>
        </p:txBody>
      </p:sp>
      <p:sp>
        <p:nvSpPr>
          <p:cNvPr id="10" name="Card"/>
          <p:cNvSpPr/>
          <p:nvPr/>
        </p:nvSpPr>
        <p:spPr>
          <a:xfrm>
            <a:off x="365760" y="914400"/>
            <a:ext cx="3566160" cy="3657600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Card Header"/>
          <p:cNvSpPr/>
          <p:nvPr/>
        </p:nvSpPr>
        <p:spPr>
          <a:xfrm>
            <a:off x="365760" y="914400"/>
            <a:ext cx="3566160" cy="2743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Card Title"/>
          <p:cNvSpPr txBox="1"/>
          <p:nvPr/>
        </p:nvSpPr>
        <p:spPr>
          <a:xfrm>
            <a:off x="457200" y="914400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PROTOTYPE DIMENSIONS</a:t>
            </a:r>
          </a:p>
        </p:txBody>
      </p:sp>
      <p:sp>
        <p:nvSpPr>
          <p:cNvPr id="13" name="Card Body"/>
          <p:cNvSpPr txBox="1"/>
          <p:nvPr/>
        </p:nvSpPr>
        <p:spPr>
          <a:xfrm>
            <a:off x="475488" y="1261872"/>
            <a:ext cx="3346704" cy="3255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4E79"/>
                </a:solidFill>
                <a:latin typeface="Calibri"/>
              </a:rPr>
              <a:t>Base Enclosure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14 in L × 12 in W × 4 in H  (35.6 × 30.5 × 10.2 cm)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4E79"/>
                </a:solidFill>
                <a:latin typeface="Calibri"/>
              </a:rPr>
              <a:t>Upper Medicine Housing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8 in L × 8 in W × 13 in H  (20.3 × 20.3 × 33 cm)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4E79"/>
                </a:solidFill>
                <a:latin typeface="Calibri"/>
              </a:rPr>
              <a:t>Dispensing Opening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5 in W × 8 in H  (12.7 × 20.3 cm)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4E79"/>
                </a:solidFill>
                <a:latin typeface="Calibri"/>
              </a:rPr>
              <a:t>Overall Height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Approx. 17 in (13 in housing + 4 in base)</a:t>
            </a:r>
          </a:p>
        </p:txBody>
      </p:sp>
      <p:sp>
        <p:nvSpPr>
          <p:cNvPr id="14" name="Placement Card"/>
          <p:cNvSpPr/>
          <p:nvPr/>
        </p:nvSpPr>
        <p:spPr>
          <a:xfrm>
            <a:off x="4114800" y="914400"/>
            <a:ext cx="2286000" cy="1755648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Badge"/>
          <p:cNvSpPr/>
          <p:nvPr/>
        </p:nvSpPr>
        <p:spPr>
          <a:xfrm>
            <a:off x="4206240" y="1005840"/>
            <a:ext cx="274320" cy="27432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987552"/>
            <a:ext cx="1783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E4E79"/>
                </a:solidFill>
                <a:latin typeface="Calibri"/>
              </a:rPr>
              <a:t>Upper Housing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1389888"/>
            <a:ext cx="2084831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Six-slot rotating medicine carousel; the Carousel Servo sits below/behind it and rotates it to the selected slot.</a:t>
            </a:r>
          </a:p>
        </p:txBody>
      </p:sp>
      <p:sp>
        <p:nvSpPr>
          <p:cNvPr id="18" name="Placement Card"/>
          <p:cNvSpPr/>
          <p:nvPr/>
        </p:nvSpPr>
        <p:spPr>
          <a:xfrm>
            <a:off x="6510528" y="914400"/>
            <a:ext cx="2286000" cy="1755648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Badge"/>
          <p:cNvSpPr/>
          <p:nvPr/>
        </p:nvSpPr>
        <p:spPr>
          <a:xfrm>
            <a:off x="6601968" y="1005840"/>
            <a:ext cx="274320" cy="27432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987552"/>
            <a:ext cx="1783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E4E79"/>
                </a:solidFill>
                <a:latin typeface="Calibri"/>
              </a:rPr>
              <a:t>Dual-Gate 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1389888"/>
            <a:ext cx="2084831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Gate Servo 1 operates slots 1–3 and Gate Servo 2 operates slots 4–6 for controlled dispensing.</a:t>
            </a:r>
          </a:p>
        </p:txBody>
      </p:sp>
      <p:sp>
        <p:nvSpPr>
          <p:cNvPr id="22" name="Placement Card"/>
          <p:cNvSpPr/>
          <p:nvPr/>
        </p:nvSpPr>
        <p:spPr>
          <a:xfrm>
            <a:off x="4114800" y="2779776"/>
            <a:ext cx="2286000" cy="1755648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Badge"/>
          <p:cNvSpPr/>
          <p:nvPr/>
        </p:nvSpPr>
        <p:spPr>
          <a:xfrm>
            <a:off x="4206240" y="2871216"/>
            <a:ext cx="274320" cy="27432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2852928"/>
            <a:ext cx="1783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E4E79"/>
                </a:solidFill>
                <a:latin typeface="Calibri"/>
              </a:rPr>
              <a:t>Detection Zone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3255264"/>
            <a:ext cx="2084831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IR sensor near the dispensing outlet detects a hand / medicine pickup (distance: 5 in).</a:t>
            </a:r>
          </a:p>
        </p:txBody>
      </p:sp>
      <p:sp>
        <p:nvSpPr>
          <p:cNvPr id="26" name="Placement Card"/>
          <p:cNvSpPr/>
          <p:nvPr/>
        </p:nvSpPr>
        <p:spPr>
          <a:xfrm>
            <a:off x="6510528" y="2779776"/>
            <a:ext cx="2286000" cy="1755648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Badge"/>
          <p:cNvSpPr/>
          <p:nvPr/>
        </p:nvSpPr>
        <p:spPr>
          <a:xfrm>
            <a:off x="6601968" y="2871216"/>
            <a:ext cx="274320" cy="27432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852928"/>
            <a:ext cx="1783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E4E79"/>
                </a:solidFill>
                <a:latin typeface="Calibri"/>
              </a:rPr>
              <a:t>Base Enclosure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0256" y="3255264"/>
            <a:ext cx="2084831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ESP32, 16×2 LCD, LED and passive buzzer are housed in the base control section.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Project Structure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7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8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15</a:t>
            </a:r>
          </a:p>
        </p:txBody>
      </p:sp>
      <p:pic>
        <p:nvPicPr>
          <p:cNvPr id="9" name="Structure Diagram" descr="Smart Medicine Dispenser structure: front, side and top views with component li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470" y="841248"/>
            <a:ext cx="6495058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4507992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Smart Medicine Dispenser: front, side and top views with component list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IoT Communication &amp; Dashboard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ntent Panel"/>
          <p:cNvSpPr/>
          <p:nvPr/>
        </p:nvSpPr>
        <p:spPr>
          <a:xfrm>
            <a:off x="182880" y="804672"/>
            <a:ext cx="8778240" cy="3840480"/>
          </a:xfrm>
          <a:prstGeom prst="rect">
            <a:avLst/>
          </a:prstGeom>
          <a:solidFill>
            <a:srgbClr val="F7F8FC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8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16</a:t>
            </a:r>
          </a:p>
        </p:txBody>
      </p:sp>
      <p:sp>
        <p:nvSpPr>
          <p:cNvPr id="10" name="Kicker"/>
          <p:cNvSpPr txBox="1"/>
          <p:nvPr/>
        </p:nvSpPr>
        <p:spPr>
          <a:xfrm>
            <a:off x="365760" y="85953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6E7F"/>
                </a:solidFill>
                <a:latin typeface="Calibri"/>
              </a:rPr>
              <a:t>DASHBOARD ⇄ ESP32 OVER HTTP</a:t>
            </a:r>
          </a:p>
        </p:txBody>
      </p:sp>
      <p:graphicFrame>
        <p:nvGraphicFramePr>
          <p:cNvPr id="11" name="Data Table"/>
          <p:cNvGraphicFramePr>
            <a:graphicFrameLocks noGrp="1"/>
          </p:cNvGraphicFramePr>
          <p:nvPr/>
        </p:nvGraphicFramePr>
        <p:xfrm>
          <a:off x="365760" y="1097280"/>
          <a:ext cx="5120640" cy="2286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F2937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/api/status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Returns current system status; dashboard polls it periodically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F2937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/api/schedule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Sends the schedule of one medicine slot to the ESP32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F2937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/api/schedule/all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Sends the schedules of all slots in one request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F2937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/api/time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Synchronises time between dashboard and ESP32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Comm Note"/>
          <p:cNvSpPr/>
          <p:nvPr/>
        </p:nvSpPr>
        <p:spPr>
          <a:xfrm>
            <a:off x="365760" y="3566160"/>
            <a:ext cx="5120640" cy="1005840"/>
          </a:xfrm>
          <a:prstGeom prst="rect">
            <a:avLst/>
          </a:prstGeom>
          <a:solidFill>
            <a:srgbClr val="FFF2CC"/>
          </a:solidFill>
          <a:ln w="9525">
            <a:solidFill>
              <a:srgbClr val="F7A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56616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E4E79"/>
                </a:solidFill>
                <a:latin typeface="Calibri"/>
              </a:rPr>
              <a:t>Data flow: </a:t>
            </a:r>
            <a:r>
              <a:rPr sz="1150" b="0" i="0">
                <a:solidFill>
                  <a:srgbClr val="1F2937"/>
                </a:solidFill>
                <a:latin typeface="Calibri"/>
              </a:rPr>
              <a:t>the dashboard sends schedules to the ESP32; the ESP32 compares them with NTP-synchronised time, dispenses on a match, and returns status that the dashboard displays with history.</a:t>
            </a:r>
          </a:p>
        </p:txBody>
      </p:sp>
      <p:sp>
        <p:nvSpPr>
          <p:cNvPr id="14" name="Features Panel"/>
          <p:cNvSpPr/>
          <p:nvPr/>
        </p:nvSpPr>
        <p:spPr>
          <a:xfrm>
            <a:off x="5669280" y="1097280"/>
            <a:ext cx="31089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Card Header"/>
          <p:cNvSpPr/>
          <p:nvPr/>
        </p:nvSpPr>
        <p:spPr>
          <a:xfrm>
            <a:off x="5669280" y="1097280"/>
            <a:ext cx="3108960" cy="292608"/>
          </a:xfrm>
          <a:prstGeom prst="rect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0" y="109728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DASHBOARD FEATURES</a:t>
            </a:r>
          </a:p>
        </p:txBody>
      </p:sp>
      <p:sp>
        <p:nvSpPr>
          <p:cNvPr id="17" name="Badge"/>
          <p:cNvSpPr/>
          <p:nvPr/>
        </p:nvSpPr>
        <p:spPr>
          <a:xfrm>
            <a:off x="5779008" y="1517904"/>
            <a:ext cx="274320" cy="274320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481328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Six-slot management</a:t>
            </a:r>
          </a:p>
        </p:txBody>
      </p:sp>
      <p:sp>
        <p:nvSpPr>
          <p:cNvPr id="19" name="Badge"/>
          <p:cNvSpPr/>
          <p:nvPr/>
        </p:nvSpPr>
        <p:spPr>
          <a:xfrm>
            <a:off x="5779008" y="1947672"/>
            <a:ext cx="274320" cy="274320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911095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Medicine name entry</a:t>
            </a:r>
          </a:p>
        </p:txBody>
      </p:sp>
      <p:sp>
        <p:nvSpPr>
          <p:cNvPr id="21" name="Badge"/>
          <p:cNvSpPr/>
          <p:nvPr/>
        </p:nvSpPr>
        <p:spPr>
          <a:xfrm>
            <a:off x="5779008" y="2377440"/>
            <a:ext cx="274320" cy="274320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40864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Schedule / time selection</a:t>
            </a:r>
          </a:p>
        </p:txBody>
      </p:sp>
      <p:sp>
        <p:nvSpPr>
          <p:cNvPr id="23" name="Badge"/>
          <p:cNvSpPr/>
          <p:nvPr/>
        </p:nvSpPr>
        <p:spPr>
          <a:xfrm>
            <a:off x="5779008" y="2807208"/>
            <a:ext cx="274320" cy="274320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770632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ESP32 connection test</a:t>
            </a:r>
          </a:p>
        </p:txBody>
      </p:sp>
      <p:sp>
        <p:nvSpPr>
          <p:cNvPr id="25" name="Badge"/>
          <p:cNvSpPr/>
          <p:nvPr/>
        </p:nvSpPr>
        <p:spPr>
          <a:xfrm>
            <a:off x="5779008" y="3236976"/>
            <a:ext cx="274320" cy="274320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200400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Time synchronisation</a:t>
            </a:r>
          </a:p>
        </p:txBody>
      </p:sp>
      <p:sp>
        <p:nvSpPr>
          <p:cNvPr id="27" name="Badge"/>
          <p:cNvSpPr/>
          <p:nvPr/>
        </p:nvSpPr>
        <p:spPr>
          <a:xfrm>
            <a:off x="5779008" y="3666744"/>
            <a:ext cx="274320" cy="274320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630168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Status monitoring</a:t>
            </a:r>
          </a:p>
        </p:txBody>
      </p:sp>
      <p:sp>
        <p:nvSpPr>
          <p:cNvPr id="29" name="Badge"/>
          <p:cNvSpPr/>
          <p:nvPr/>
        </p:nvSpPr>
        <p:spPr>
          <a:xfrm>
            <a:off x="5779008" y="4096511"/>
            <a:ext cx="274320" cy="274320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059935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Dispensing history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Implementation Status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ntent Panel"/>
          <p:cNvSpPr/>
          <p:nvPr/>
        </p:nvSpPr>
        <p:spPr>
          <a:xfrm>
            <a:off x="182880" y="804672"/>
            <a:ext cx="8778240" cy="3840480"/>
          </a:xfrm>
          <a:prstGeom prst="rect">
            <a:avLst/>
          </a:prstGeom>
          <a:solidFill>
            <a:srgbClr val="F7F8FC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8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17</a:t>
            </a:r>
          </a:p>
        </p:txBody>
      </p:sp>
      <p:sp>
        <p:nvSpPr>
          <p:cNvPr id="10" name="Implemented Card"/>
          <p:cNvSpPr/>
          <p:nvPr/>
        </p:nvSpPr>
        <p:spPr>
          <a:xfrm>
            <a:off x="365760" y="914400"/>
            <a:ext cx="5029200" cy="3657600"/>
          </a:xfrm>
          <a:prstGeom prst="rect">
            <a:avLst/>
          </a:prstGeom>
          <a:solidFill>
            <a:srgbClr val="E3F1E3"/>
          </a:solidFill>
          <a:ln w="9525">
            <a:solidFill>
              <a:srgbClr val="8BB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Card Header"/>
          <p:cNvSpPr/>
          <p:nvPr/>
        </p:nvSpPr>
        <p:spPr>
          <a:xfrm>
            <a:off x="365760" y="914400"/>
            <a:ext cx="5029200" cy="31089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91440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CURRENTLY IMPLEMENTED / 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325880"/>
            <a:ext cx="475488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304" indent="-146304" algn="l">
              <a:spcAft>
                <a:spcPts val="400"/>
              </a:spcAft>
              <a:buClr>
                <a:srgbClr val="2E7D32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ESP32 Wi-Fi connectivity</a:t>
            </a:r>
          </a:p>
          <a:p>
            <a:pPr marL="146304" indent="-146304" algn="l">
              <a:spcAft>
                <a:spcPts val="400"/>
              </a:spcAft>
              <a:buClr>
                <a:srgbClr val="2E7D32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HTTP server communication</a:t>
            </a:r>
          </a:p>
          <a:p>
            <a:pPr marL="146304" indent="-146304" algn="l">
              <a:spcAft>
                <a:spcPts val="400"/>
              </a:spcAft>
              <a:buClr>
                <a:srgbClr val="2E7D32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Six-slot dashboard configuration</a:t>
            </a:r>
          </a:p>
          <a:p>
            <a:pPr marL="146304" indent="-146304" algn="l">
              <a:spcAft>
                <a:spcPts val="400"/>
              </a:spcAft>
              <a:buClr>
                <a:srgbClr val="2E7D32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Medicine schedule transmission</a:t>
            </a:r>
          </a:p>
          <a:p>
            <a:pPr marL="146304" indent="-146304" algn="l">
              <a:spcAft>
                <a:spcPts val="400"/>
              </a:spcAft>
              <a:buClr>
                <a:srgbClr val="2E7D32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ESP32-based NTP time synchronisation</a:t>
            </a:r>
          </a:p>
          <a:p>
            <a:pPr marL="146304" indent="-146304" algn="l">
              <a:spcAft>
                <a:spcPts val="400"/>
              </a:spcAft>
              <a:buClr>
                <a:srgbClr val="2E7D32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Three-servo control</a:t>
            </a:r>
          </a:p>
          <a:p>
            <a:pPr marL="146304" indent="-146304" algn="l">
              <a:spcAft>
                <a:spcPts val="400"/>
              </a:spcAft>
              <a:buClr>
                <a:srgbClr val="2E7D32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Carousel positioning and two-gate control</a:t>
            </a:r>
          </a:p>
          <a:p>
            <a:pPr marL="146304" indent="-146304" algn="l">
              <a:spcAft>
                <a:spcPts val="400"/>
              </a:spcAft>
              <a:buClr>
                <a:srgbClr val="2E7D32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IR-based hand detection</a:t>
            </a:r>
          </a:p>
          <a:p>
            <a:pPr marL="146304" indent="-146304" algn="l">
              <a:spcAft>
                <a:spcPts val="400"/>
              </a:spcAft>
              <a:buClr>
                <a:srgbClr val="2E7D32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LED and buzzer alerts</a:t>
            </a:r>
          </a:p>
          <a:p>
            <a:pPr marL="146304" indent="-146304" algn="l">
              <a:spcAft>
                <a:spcPts val="400"/>
              </a:spcAft>
              <a:buClr>
                <a:srgbClr val="2E7D32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LCD status display</a:t>
            </a:r>
          </a:p>
          <a:p>
            <a:pPr marL="146304" indent="-146304" algn="l">
              <a:spcAft>
                <a:spcPts val="400"/>
              </a:spcAft>
              <a:buClr>
                <a:srgbClr val="2E7D32"/>
              </a:buClr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Dashboard status communication</a:t>
            </a:r>
          </a:p>
        </p:txBody>
      </p:sp>
      <p:sp>
        <p:nvSpPr>
          <p:cNvPr id="14" name="Future Card"/>
          <p:cNvSpPr/>
          <p:nvPr/>
        </p:nvSpPr>
        <p:spPr>
          <a:xfrm>
            <a:off x="5577840" y="914400"/>
            <a:ext cx="3200400" cy="2286000"/>
          </a:xfrm>
          <a:prstGeom prst="rect">
            <a:avLst/>
          </a:prstGeom>
          <a:solidFill>
            <a:srgbClr val="FFF2CC"/>
          </a:solidFill>
          <a:ln w="9525">
            <a:solidFill>
              <a:srgbClr val="F7A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Card Header"/>
          <p:cNvSpPr/>
          <p:nvPr/>
        </p:nvSpPr>
        <p:spPr>
          <a:xfrm>
            <a:off x="5577840" y="914400"/>
            <a:ext cx="3200400" cy="31089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0" y="91440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FUTURE ENHANCEMENTS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1325880"/>
            <a:ext cx="2971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DS3231 RTC for reliable timekeeping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Telegram notifications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Battery-powered portable operation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Improved enclosure and mechanical design</a:t>
            </a:r>
          </a:p>
          <a:p>
            <a:pPr marL="146304" indent="-146304" algn="l">
              <a:spcAft>
                <a:spcPts val="300"/>
              </a:spcAft>
              <a:buClr>
                <a:srgbClr val="ED7D31"/>
              </a:buClr>
              <a:buChar char="•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Further reliability and usability work</a:t>
            </a:r>
          </a:p>
        </p:txBody>
      </p:sp>
      <p:sp>
        <p:nvSpPr>
          <p:cNvPr id="18" name="Proposed Card"/>
          <p:cNvSpPr/>
          <p:nvPr/>
        </p:nvSpPr>
        <p:spPr>
          <a:xfrm>
            <a:off x="5577840" y="3337560"/>
            <a:ext cx="3200400" cy="1234440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Card Header"/>
          <p:cNvSpPr/>
          <p:nvPr/>
        </p:nvSpPr>
        <p:spPr>
          <a:xfrm>
            <a:off x="5577840" y="3337560"/>
            <a:ext cx="3200400" cy="310896"/>
          </a:xfrm>
          <a:prstGeom prst="rect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0" y="333756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PROPOSED SOFTWARE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703320"/>
            <a:ext cx="2971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Report OCR, AI/ML risk prediction and role-based dashboards form the next software layer.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Testing &amp; Observations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ntent Panel"/>
          <p:cNvSpPr/>
          <p:nvPr/>
        </p:nvSpPr>
        <p:spPr>
          <a:xfrm>
            <a:off x="182880" y="804672"/>
            <a:ext cx="8778240" cy="3840480"/>
          </a:xfrm>
          <a:prstGeom prst="rect">
            <a:avLst/>
          </a:prstGeom>
          <a:solidFill>
            <a:srgbClr val="F7F8FC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8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18</a:t>
            </a:r>
          </a:p>
        </p:txBody>
      </p:sp>
      <p:graphicFrame>
        <p:nvGraphicFramePr>
          <p:cNvPr id="10" name="Data Table"/>
          <p:cNvGraphicFramePr>
            <a:graphicFrameLocks noGrp="1"/>
          </p:cNvGraphicFramePr>
          <p:nvPr/>
        </p:nvGraphicFramePr>
        <p:xfrm>
          <a:off x="365760" y="914400"/>
          <a:ext cx="5760720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Function Tested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Observed Behaviour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F2937"/>
                          </a:solidFill>
                          <a:latin typeface="Calibri"/>
                        </a:rPr>
                        <a:t>Wi-Fi and NTP time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ESP32 connects and obtains current date and time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E7D32"/>
                          </a:solidFill>
                          <a:latin typeface="Calibri"/>
                        </a:rPr>
                        <a:t>Working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F2937"/>
                          </a:solidFill>
                          <a:latin typeface="Calibri"/>
                        </a:rPr>
                        <a:t>Schedule transmission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Dashboard sends six-slot schedules over HTTP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E7D32"/>
                          </a:solidFill>
                          <a:latin typeface="Calibri"/>
                        </a:rPr>
                        <a:t>Working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F2937"/>
                          </a:solidFill>
                          <a:latin typeface="Calibri"/>
                        </a:rPr>
                        <a:t>Carousel positioning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Carousel servo moves to the scheduled slot angle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E7D32"/>
                          </a:solidFill>
                          <a:latin typeface="Calibri"/>
                        </a:rPr>
                        <a:t>Working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F2937"/>
                          </a:solidFill>
                          <a:latin typeface="Calibri"/>
                        </a:rPr>
                        <a:t>Gate control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Gate servo for the slot's group opens and closes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E7D32"/>
                          </a:solidFill>
                          <a:latin typeface="Calibri"/>
                        </a:rPr>
                        <a:t>Working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F2937"/>
                          </a:solidFill>
                          <a:latin typeface="Calibri"/>
                        </a:rPr>
                        <a:t>Hand detection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IR sensor detects a hand at the dispensing area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E7D32"/>
                          </a:solidFill>
                          <a:latin typeface="Calibri"/>
                        </a:rPr>
                        <a:t>Working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F2937"/>
                          </a:solidFill>
                          <a:latin typeface="Calibri"/>
                        </a:rPr>
                        <a:t>Reminders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LED and passive buzzer activate at schedule time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E7D32"/>
                          </a:solidFill>
                          <a:latin typeface="Calibri"/>
                        </a:rPr>
                        <a:t>Working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F2937"/>
                          </a:solidFill>
                          <a:latin typeface="Calibri"/>
                        </a:rPr>
                        <a:t>LCD status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LCD shows system information and status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E7D32"/>
                          </a:solidFill>
                          <a:latin typeface="Calibri"/>
                        </a:rPr>
                        <a:t>Working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F2937"/>
                          </a:solidFill>
                          <a:latin typeface="Calibri"/>
                        </a:rPr>
                        <a:t>Dashboard status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Dashboard polls /api/status and shows updates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dirty="0">
                          <a:solidFill>
                            <a:srgbClr val="2E7D32"/>
                          </a:solidFill>
                          <a:latin typeface="Calibri"/>
                        </a:rPr>
                        <a:t>Working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BFD3E6"/>
                      </a:solidFill>
                    </a:lnL>
                    <a:lnR w="9525">
                      <a:solidFill>
                        <a:srgbClr val="BFD3E6"/>
                      </a:solidFill>
                    </a:lnR>
                    <a:lnT w="9525">
                      <a:solidFill>
                        <a:srgbClr val="BFD3E6"/>
                      </a:solidFill>
                    </a:lnT>
                    <a:lnB w="9525">
                      <a:solidFill>
                        <a:srgbClr val="BFD3E6"/>
                      </a:solidFill>
                    </a:lnB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Screenshot Placeholder"/>
          <p:cNvSpPr/>
          <p:nvPr/>
        </p:nvSpPr>
        <p:spPr>
          <a:xfrm>
            <a:off x="6309360" y="914400"/>
            <a:ext cx="246888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7F8F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914400"/>
            <a:ext cx="2286000" cy="2423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E4E79"/>
                </a:solidFill>
                <a:latin typeface="Calibri"/>
              </a:rPr>
              <a:t>Dashboard screenshot</a:t>
            </a:r>
          </a:p>
          <a:p>
            <a:pPr algn="ctr"/>
            <a:r>
              <a:rPr sz="950" b="0" i="0">
                <a:solidFill>
                  <a:srgbClr val="6B7280"/>
                </a:solidFill>
                <a:latin typeface="Calibri"/>
              </a:rPr>
              <a:t>Insert image here</a:t>
            </a:r>
          </a:p>
        </p:txBody>
      </p:sp>
      <p:sp>
        <p:nvSpPr>
          <p:cNvPr id="13" name="Test Note"/>
          <p:cNvSpPr/>
          <p:nvPr/>
        </p:nvSpPr>
        <p:spPr>
          <a:xfrm>
            <a:off x="6188529" y="3474720"/>
            <a:ext cx="2772591" cy="1097280"/>
          </a:xfrm>
          <a:prstGeom prst="rect">
            <a:avLst/>
          </a:prstGeom>
          <a:solidFill>
            <a:srgbClr val="FFF2CC"/>
          </a:solidFill>
          <a:ln w="9525">
            <a:solidFill>
              <a:srgbClr val="F7A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Functional verification only. Hand detection is not proof of medicine ingestion, and no accuracy figures are claimed.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8958E37-9C9B-E588-FB30-FF007D897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529" y="870508"/>
            <a:ext cx="2772591" cy="253105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Applications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ntent Panel"/>
          <p:cNvSpPr/>
          <p:nvPr/>
        </p:nvSpPr>
        <p:spPr>
          <a:xfrm>
            <a:off x="182880" y="804672"/>
            <a:ext cx="8778240" cy="3840480"/>
          </a:xfrm>
          <a:prstGeom prst="rect">
            <a:avLst/>
          </a:prstGeom>
          <a:solidFill>
            <a:srgbClr val="F7F8FC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8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19</a:t>
            </a:r>
          </a:p>
        </p:txBody>
      </p:sp>
      <p:sp>
        <p:nvSpPr>
          <p:cNvPr id="10" name="Kicker"/>
          <p:cNvSpPr txBox="1"/>
          <p:nvPr/>
        </p:nvSpPr>
        <p:spPr>
          <a:xfrm>
            <a:off x="365760" y="85953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6E7F"/>
                </a:solidFill>
                <a:latin typeface="Calibri"/>
              </a:rPr>
              <a:t>WHERE IT HELPS</a:t>
            </a:r>
          </a:p>
        </p:txBody>
      </p:sp>
      <p:sp>
        <p:nvSpPr>
          <p:cNvPr id="11" name="Application Card"/>
          <p:cNvSpPr/>
          <p:nvPr/>
        </p:nvSpPr>
        <p:spPr>
          <a:xfrm>
            <a:off x="365760" y="1097280"/>
            <a:ext cx="27432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Badge"/>
          <p:cNvSpPr/>
          <p:nvPr/>
        </p:nvSpPr>
        <p:spPr>
          <a:xfrm>
            <a:off x="475488" y="1207007"/>
            <a:ext cx="365760" cy="365760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188720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1E4E79"/>
                </a:solidFill>
                <a:latin typeface="Calibri"/>
              </a:rPr>
              <a:t>Home Healthcare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19072"/>
            <a:ext cx="24688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dirty="0">
                <a:solidFill>
                  <a:srgbClr val="1F2937"/>
                </a:solidFill>
                <a:latin typeface="Calibri"/>
              </a:rPr>
              <a:t>Smart reminders and automatic dispensing for chronic disease patients.</a:t>
            </a:r>
          </a:p>
        </p:txBody>
      </p:sp>
      <p:sp>
        <p:nvSpPr>
          <p:cNvPr id="15" name="Application Card"/>
          <p:cNvSpPr/>
          <p:nvPr/>
        </p:nvSpPr>
        <p:spPr>
          <a:xfrm>
            <a:off x="3200400" y="1097280"/>
            <a:ext cx="27432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Badge"/>
          <p:cNvSpPr/>
          <p:nvPr/>
        </p:nvSpPr>
        <p:spPr>
          <a:xfrm>
            <a:off x="3310128" y="1207007"/>
            <a:ext cx="365760" cy="365760"/>
          </a:xfrm>
          <a:prstGeom prst="ellipse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1188720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1E4E79"/>
                </a:solidFill>
                <a:latin typeface="Calibri"/>
              </a:rPr>
              <a:t>Hospitals &amp; Clinics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19072"/>
            <a:ext cx="24688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dirty="0">
                <a:solidFill>
                  <a:srgbClr val="1F2937"/>
                </a:solidFill>
                <a:latin typeface="Calibri"/>
              </a:rPr>
              <a:t>Helps doctors monitor prescriptions, reports, adherence and recovery.</a:t>
            </a:r>
          </a:p>
        </p:txBody>
      </p:sp>
      <p:sp>
        <p:nvSpPr>
          <p:cNvPr id="19" name="Application Card"/>
          <p:cNvSpPr/>
          <p:nvPr/>
        </p:nvSpPr>
        <p:spPr>
          <a:xfrm>
            <a:off x="6035040" y="1097280"/>
            <a:ext cx="27432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Badge"/>
          <p:cNvSpPr/>
          <p:nvPr/>
        </p:nvSpPr>
        <p:spPr>
          <a:xfrm>
            <a:off x="6144768" y="1207007"/>
            <a:ext cx="365760" cy="365760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188720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1E4E79"/>
                </a:solidFill>
                <a:latin typeface="Calibri"/>
              </a:rPr>
              <a:t>Family &amp; Nursing Care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719072"/>
            <a:ext cx="24688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dirty="0">
                <a:solidFill>
                  <a:srgbClr val="1F2937"/>
                </a:solidFill>
                <a:latin typeface="Calibri"/>
              </a:rPr>
              <a:t>Family and nurses can remotely track medicine intake and missed doses.</a:t>
            </a:r>
          </a:p>
        </p:txBody>
      </p:sp>
      <p:sp>
        <p:nvSpPr>
          <p:cNvPr id="23" name="Application Card"/>
          <p:cNvSpPr/>
          <p:nvPr/>
        </p:nvSpPr>
        <p:spPr>
          <a:xfrm>
            <a:off x="365760" y="2834639"/>
            <a:ext cx="27432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Badge"/>
          <p:cNvSpPr/>
          <p:nvPr/>
        </p:nvSpPr>
        <p:spPr>
          <a:xfrm>
            <a:off x="475488" y="2944368"/>
            <a:ext cx="365760" cy="365760"/>
          </a:xfrm>
          <a:prstGeom prst="ellipse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2926079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1E4E79"/>
                </a:solidFill>
                <a:latin typeface="Calibri"/>
              </a:rPr>
              <a:t>Community Healthcare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456432"/>
            <a:ext cx="24688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dirty="0">
                <a:solidFill>
                  <a:srgbClr val="1F2937"/>
                </a:solidFill>
                <a:latin typeface="Calibri"/>
              </a:rPr>
              <a:t>Helps CHOs monitor patients, disease prevalence and health statistics across villages.</a:t>
            </a:r>
          </a:p>
        </p:txBody>
      </p:sp>
      <p:sp>
        <p:nvSpPr>
          <p:cNvPr id="27" name="Application Card"/>
          <p:cNvSpPr/>
          <p:nvPr/>
        </p:nvSpPr>
        <p:spPr>
          <a:xfrm>
            <a:off x="3200400" y="2834639"/>
            <a:ext cx="27432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Badge"/>
          <p:cNvSpPr/>
          <p:nvPr/>
        </p:nvSpPr>
        <p:spPr>
          <a:xfrm>
            <a:off x="3310128" y="2944368"/>
            <a:ext cx="365760" cy="365760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2926079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1E4E79"/>
                </a:solidFill>
                <a:latin typeface="Calibri"/>
              </a:rPr>
              <a:t>Preventive Healthcare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3456432"/>
            <a:ext cx="24688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dirty="0">
                <a:solidFill>
                  <a:srgbClr val="1F2937"/>
                </a:solidFill>
                <a:latin typeface="Calibri"/>
              </a:rPr>
              <a:t>OCR and AI analysis of reports to spot potential disease risks early.</a:t>
            </a:r>
          </a:p>
        </p:txBody>
      </p:sp>
      <p:sp>
        <p:nvSpPr>
          <p:cNvPr id="31" name="Application Card"/>
          <p:cNvSpPr/>
          <p:nvPr/>
        </p:nvSpPr>
        <p:spPr>
          <a:xfrm>
            <a:off x="6035040" y="2834639"/>
            <a:ext cx="27432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Badge"/>
          <p:cNvSpPr/>
          <p:nvPr/>
        </p:nvSpPr>
        <p:spPr>
          <a:xfrm>
            <a:off x="6144768" y="2944368"/>
            <a:ext cx="365760" cy="365760"/>
          </a:xfrm>
          <a:prstGeom prst="ellipse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2926079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1E4E79"/>
                </a:solidFill>
                <a:latin typeface="Calibri"/>
              </a:rPr>
              <a:t>Population Health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456432"/>
            <a:ext cx="24688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dirty="0" err="1">
                <a:solidFill>
                  <a:srgbClr val="1F2937"/>
                </a:solidFill>
                <a:latin typeface="Calibri"/>
              </a:rPr>
              <a:t>Centralised</a:t>
            </a:r>
            <a:r>
              <a:rPr sz="1200" b="0" i="0" dirty="0">
                <a:solidFill>
                  <a:srgbClr val="1F2937"/>
                </a:solidFill>
                <a:latin typeface="Calibri"/>
              </a:rPr>
              <a:t> data on high-risk patients, adherence trends and common diseases at district level.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Advantages &amp; Limitations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ntent Panel"/>
          <p:cNvSpPr/>
          <p:nvPr/>
        </p:nvSpPr>
        <p:spPr>
          <a:xfrm>
            <a:off x="182880" y="804672"/>
            <a:ext cx="8778240" cy="3840480"/>
          </a:xfrm>
          <a:prstGeom prst="rect">
            <a:avLst/>
          </a:prstGeom>
          <a:solidFill>
            <a:srgbClr val="F7F8FC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8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20</a:t>
            </a:r>
          </a:p>
        </p:txBody>
      </p:sp>
      <p:sp>
        <p:nvSpPr>
          <p:cNvPr id="10" name="Advantages Card"/>
          <p:cNvSpPr/>
          <p:nvPr/>
        </p:nvSpPr>
        <p:spPr>
          <a:xfrm>
            <a:off x="365760" y="914400"/>
            <a:ext cx="4114800" cy="3657600"/>
          </a:xfrm>
          <a:prstGeom prst="rect">
            <a:avLst/>
          </a:prstGeom>
          <a:solidFill>
            <a:srgbClr val="E3F1E3"/>
          </a:solidFill>
          <a:ln w="9525">
            <a:solidFill>
              <a:srgbClr val="8BB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Card Header"/>
          <p:cNvSpPr/>
          <p:nvPr/>
        </p:nvSpPr>
        <p:spPr>
          <a:xfrm>
            <a:off x="365760" y="914400"/>
            <a:ext cx="4114800" cy="31089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914400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ADVANTAGES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325880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 algn="l">
              <a:buClr>
                <a:srgbClr val="2E7D32"/>
              </a:buClr>
              <a:buChar char="•"/>
            </a:pPr>
            <a:r>
              <a:rPr sz="1200" b="1" i="0">
                <a:solidFill>
                  <a:srgbClr val="0D1F3C"/>
                </a:solidFill>
                <a:latin typeface="Calibri"/>
              </a:rPr>
              <a:t>All-in-One Healthcare: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Dispensing, OCR, AI prediction and monitoring in one system.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65960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 algn="l">
              <a:buClr>
                <a:srgbClr val="2E7D32"/>
              </a:buClr>
              <a:buChar char="•"/>
            </a:pPr>
            <a:r>
              <a:rPr sz="1200" b="1" i="0">
                <a:solidFill>
                  <a:srgbClr val="0D1F3C"/>
                </a:solidFill>
                <a:latin typeface="Calibri"/>
              </a:rPr>
              <a:t>Automated Medication: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Scheduled dispensing with visual and audio reminders.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06039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 algn="l">
              <a:buClr>
                <a:srgbClr val="2E7D32"/>
              </a:buClr>
              <a:buChar char="•"/>
            </a:pPr>
            <a:r>
              <a:rPr sz="1200" b="1" i="0">
                <a:solidFill>
                  <a:srgbClr val="0D1F3C"/>
                </a:solidFill>
                <a:latin typeface="Calibri"/>
              </a:rPr>
              <a:t>Smart Monitoring: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Tracks pickup, adherence, reports and risk status.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46120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 algn="l">
              <a:buClr>
                <a:srgbClr val="2E7D32"/>
              </a:buClr>
              <a:buChar char="•"/>
            </a:pPr>
            <a:r>
              <a:rPr sz="1200" b="1" i="0">
                <a:solidFill>
                  <a:srgbClr val="0D1F3C"/>
                </a:solidFill>
                <a:latin typeface="Calibri"/>
              </a:rPr>
              <a:t>Role-Based Access: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Separate views for patients, doctors, nurses/family and CHOs.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 algn="l">
              <a:buClr>
                <a:srgbClr val="2E7D32"/>
              </a:buClr>
              <a:buChar char="•"/>
            </a:pPr>
            <a:r>
              <a:rPr sz="1200" b="1" i="0">
                <a:solidFill>
                  <a:srgbClr val="0D1F3C"/>
                </a:solidFill>
                <a:latin typeface="Calibri"/>
              </a:rPr>
              <a:t>Early Risk Detection: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OCR and AI flag potential disease risks from reports.</a:t>
            </a:r>
          </a:p>
        </p:txBody>
      </p:sp>
      <p:sp>
        <p:nvSpPr>
          <p:cNvPr id="18" name="Limitations Card"/>
          <p:cNvSpPr/>
          <p:nvPr/>
        </p:nvSpPr>
        <p:spPr>
          <a:xfrm>
            <a:off x="4663440" y="914400"/>
            <a:ext cx="4114800" cy="3657600"/>
          </a:xfrm>
          <a:prstGeom prst="rect">
            <a:avLst/>
          </a:prstGeom>
          <a:solidFill>
            <a:srgbClr val="FDECEC"/>
          </a:solidFill>
          <a:ln w="9525">
            <a:solidFill>
              <a:srgbClr val="F4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Card Header"/>
          <p:cNvSpPr/>
          <p:nvPr/>
        </p:nvSpPr>
        <p:spPr>
          <a:xfrm>
            <a:off x="4663440" y="914400"/>
            <a:ext cx="4114800" cy="310896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914400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1298448"/>
            <a:ext cx="3840480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 algn="l">
              <a:buClr>
                <a:srgbClr val="B71C1C"/>
              </a:buClr>
              <a:buChar char="•"/>
            </a:pPr>
            <a:r>
              <a:rPr sz="1200" b="1" i="0">
                <a:solidFill>
                  <a:srgbClr val="0D1F3C"/>
                </a:solidFill>
                <a:latin typeface="Calibri"/>
              </a:rPr>
              <a:t>Requires Wi-Fi: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Needed for NTP time, dashboard and alerts.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1837943"/>
            <a:ext cx="3840480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 algn="l">
              <a:buClr>
                <a:srgbClr val="B71C1C"/>
              </a:buClr>
              <a:buChar char="•"/>
            </a:pPr>
            <a:r>
              <a:rPr sz="1200" b="1" i="0">
                <a:solidFill>
                  <a:srgbClr val="0D1F3C"/>
                </a:solidFill>
                <a:latin typeface="Calibri"/>
              </a:rPr>
              <a:t>Time Dependency: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Timekeeping relies on NTP until the RTC is added.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377439"/>
            <a:ext cx="3840480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 algn="l">
              <a:buClr>
                <a:srgbClr val="B71C1C"/>
              </a:buClr>
              <a:buChar char="•"/>
            </a:pPr>
            <a:r>
              <a:rPr sz="1200" b="1" i="0">
                <a:solidFill>
                  <a:srgbClr val="0D1F3C"/>
                </a:solidFill>
                <a:latin typeface="Calibri"/>
              </a:rPr>
              <a:t>Pickup, Not Ingestion: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IR detects a hand only; it cannot confirm the medicine was swallowed.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2916936"/>
            <a:ext cx="3840480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 algn="l">
              <a:buClr>
                <a:srgbClr val="B71C1C"/>
              </a:buClr>
              <a:buChar char="•"/>
            </a:pPr>
            <a:r>
              <a:rPr sz="1200" b="1" i="0">
                <a:solidFill>
                  <a:srgbClr val="0D1F3C"/>
                </a:solidFill>
                <a:latin typeface="Calibri"/>
              </a:rPr>
              <a:t>OCR / AI Dependency: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Accuracy depends on report quality and training data.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3456432"/>
            <a:ext cx="3840480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 algn="l">
              <a:buClr>
                <a:srgbClr val="B71C1C"/>
              </a:buClr>
              <a:buChar char="•"/>
            </a:pPr>
            <a:r>
              <a:rPr sz="1200" b="1" i="0">
                <a:solidFill>
                  <a:srgbClr val="0D1F3C"/>
                </a:solidFill>
                <a:latin typeface="Calibri"/>
              </a:rPr>
              <a:t>Power Requirement: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Needs continuous power or battery backup.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995927"/>
            <a:ext cx="3840480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 algn="l">
              <a:buClr>
                <a:srgbClr val="B71C1C"/>
              </a:buClr>
              <a:buChar char="•"/>
            </a:pPr>
            <a:r>
              <a:rPr sz="1200" b="1" i="0">
                <a:solidFill>
                  <a:srgbClr val="0D1F3C"/>
                </a:solidFill>
                <a:latin typeface="Calibri"/>
              </a:rPr>
              <a:t>Prototype Scope: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Six slots and selected diseases only.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Future Scope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ntent Panel"/>
          <p:cNvSpPr/>
          <p:nvPr/>
        </p:nvSpPr>
        <p:spPr>
          <a:xfrm>
            <a:off x="182880" y="804672"/>
            <a:ext cx="8778240" cy="3840480"/>
          </a:xfrm>
          <a:prstGeom prst="rect">
            <a:avLst/>
          </a:prstGeom>
          <a:solidFill>
            <a:srgbClr val="F7F8FC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8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21</a:t>
            </a:r>
          </a:p>
        </p:txBody>
      </p:sp>
      <p:sp>
        <p:nvSpPr>
          <p:cNvPr id="10" name="Kicker"/>
          <p:cNvSpPr txBox="1"/>
          <p:nvPr/>
        </p:nvSpPr>
        <p:spPr>
          <a:xfrm>
            <a:off x="365760" y="85953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6E7F"/>
                </a:solidFill>
                <a:latin typeface="Calibri"/>
              </a:rPr>
              <a:t>PLANNED IMPROVEMENTS</a:t>
            </a:r>
          </a:p>
        </p:txBody>
      </p:sp>
      <p:sp>
        <p:nvSpPr>
          <p:cNvPr id="11" name="Future Card"/>
          <p:cNvSpPr/>
          <p:nvPr/>
        </p:nvSpPr>
        <p:spPr>
          <a:xfrm>
            <a:off x="365760" y="1097280"/>
            <a:ext cx="2743200" cy="1627632"/>
          </a:xfrm>
          <a:prstGeom prst="rect">
            <a:avLst/>
          </a:prstGeom>
          <a:solidFill>
            <a:srgbClr val="FFF2CC"/>
          </a:solidFill>
          <a:ln w="9525">
            <a:solidFill>
              <a:srgbClr val="F7A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Badge"/>
          <p:cNvSpPr/>
          <p:nvPr/>
        </p:nvSpPr>
        <p:spPr>
          <a:xfrm>
            <a:off x="475488" y="1207007"/>
            <a:ext cx="365760" cy="36576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188720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D1F3C"/>
                </a:solidFill>
                <a:latin typeface="Calibri"/>
              </a:rPr>
              <a:t>DS3231 RTC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19072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More reliable timekeeping during Wi-Fi or power interruptions.</a:t>
            </a:r>
          </a:p>
        </p:txBody>
      </p:sp>
      <p:sp>
        <p:nvSpPr>
          <p:cNvPr id="15" name="Future Card"/>
          <p:cNvSpPr/>
          <p:nvPr/>
        </p:nvSpPr>
        <p:spPr>
          <a:xfrm>
            <a:off x="3200400" y="1097280"/>
            <a:ext cx="2743200" cy="1627632"/>
          </a:xfrm>
          <a:prstGeom prst="rect">
            <a:avLst/>
          </a:prstGeom>
          <a:solidFill>
            <a:srgbClr val="FFF2CC"/>
          </a:solidFill>
          <a:ln w="9525">
            <a:solidFill>
              <a:srgbClr val="F7A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Badge"/>
          <p:cNvSpPr/>
          <p:nvPr/>
        </p:nvSpPr>
        <p:spPr>
          <a:xfrm>
            <a:off x="3310128" y="1207007"/>
            <a:ext cx="365760" cy="36576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1188720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D1F3C"/>
                </a:solidFill>
                <a:latin typeface="Calibri"/>
              </a:rPr>
              <a:t>Telegram 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19072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Missed-dose and status alerts sent to family members or nurses.</a:t>
            </a:r>
          </a:p>
        </p:txBody>
      </p:sp>
      <p:sp>
        <p:nvSpPr>
          <p:cNvPr id="19" name="Future Card"/>
          <p:cNvSpPr/>
          <p:nvPr/>
        </p:nvSpPr>
        <p:spPr>
          <a:xfrm>
            <a:off x="6035040" y="1097280"/>
            <a:ext cx="2743200" cy="1627632"/>
          </a:xfrm>
          <a:prstGeom prst="rect">
            <a:avLst/>
          </a:prstGeom>
          <a:solidFill>
            <a:srgbClr val="FFF2CC"/>
          </a:solidFill>
          <a:ln w="9525">
            <a:solidFill>
              <a:srgbClr val="F7A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Badge"/>
          <p:cNvSpPr/>
          <p:nvPr/>
        </p:nvSpPr>
        <p:spPr>
          <a:xfrm>
            <a:off x="6144768" y="1207007"/>
            <a:ext cx="365760" cy="36576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188720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D1F3C"/>
                </a:solidFill>
                <a:latin typeface="Calibri"/>
              </a:rPr>
              <a:t>Battery-Powered Operation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719072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Further work towards portable, battery-backed use.</a:t>
            </a:r>
          </a:p>
        </p:txBody>
      </p:sp>
      <p:sp>
        <p:nvSpPr>
          <p:cNvPr id="23" name="Future Card"/>
          <p:cNvSpPr/>
          <p:nvPr/>
        </p:nvSpPr>
        <p:spPr>
          <a:xfrm>
            <a:off x="365760" y="2834639"/>
            <a:ext cx="2743200" cy="1627632"/>
          </a:xfrm>
          <a:prstGeom prst="rect">
            <a:avLst/>
          </a:prstGeom>
          <a:solidFill>
            <a:srgbClr val="FFF2CC"/>
          </a:solidFill>
          <a:ln w="9525">
            <a:solidFill>
              <a:srgbClr val="F7A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Badge"/>
          <p:cNvSpPr/>
          <p:nvPr/>
        </p:nvSpPr>
        <p:spPr>
          <a:xfrm>
            <a:off x="475488" y="2944368"/>
            <a:ext cx="365760" cy="36576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2926079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D1F3C"/>
                </a:solidFill>
                <a:latin typeface="Calibri"/>
              </a:rPr>
              <a:t>Enclosure &amp; Mechanical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456432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Improved enclosure and refined dispensing mechanism.</a:t>
            </a:r>
          </a:p>
        </p:txBody>
      </p:sp>
      <p:sp>
        <p:nvSpPr>
          <p:cNvPr id="27" name="Future Card"/>
          <p:cNvSpPr/>
          <p:nvPr/>
        </p:nvSpPr>
        <p:spPr>
          <a:xfrm>
            <a:off x="3200400" y="2834639"/>
            <a:ext cx="2743200" cy="1627632"/>
          </a:xfrm>
          <a:prstGeom prst="rect">
            <a:avLst/>
          </a:prstGeom>
          <a:solidFill>
            <a:srgbClr val="FFF2CC"/>
          </a:solidFill>
          <a:ln w="9525">
            <a:solidFill>
              <a:srgbClr val="F7A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Badge"/>
          <p:cNvSpPr/>
          <p:nvPr/>
        </p:nvSpPr>
        <p:spPr>
          <a:xfrm>
            <a:off x="3310128" y="2944368"/>
            <a:ext cx="365760" cy="36576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2926079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D1F3C"/>
                </a:solidFill>
                <a:latin typeface="Calibri"/>
              </a:rPr>
              <a:t>Reliability &amp; Usability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3456432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Additional robustness and ease-of-use improvements.</a:t>
            </a:r>
          </a:p>
        </p:txBody>
      </p:sp>
      <p:sp>
        <p:nvSpPr>
          <p:cNvPr id="31" name="Future Card"/>
          <p:cNvSpPr/>
          <p:nvPr/>
        </p:nvSpPr>
        <p:spPr>
          <a:xfrm>
            <a:off x="6035040" y="2834639"/>
            <a:ext cx="2743200" cy="1627632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Badge"/>
          <p:cNvSpPr/>
          <p:nvPr/>
        </p:nvSpPr>
        <p:spPr>
          <a:xfrm>
            <a:off x="6144768" y="2944368"/>
            <a:ext cx="365760" cy="365760"/>
          </a:xfrm>
          <a:prstGeom prst="ellipse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2926079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D1F3C"/>
                </a:solidFill>
                <a:latin typeface="Calibri"/>
              </a:rPr>
              <a:t>Integrated Healthcare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456432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Link dispenser data with OCR, AI risk prediction and role-based dashboards.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ntent Panel"/>
          <p:cNvSpPr/>
          <p:nvPr/>
        </p:nvSpPr>
        <p:spPr>
          <a:xfrm>
            <a:off x="182880" y="804672"/>
            <a:ext cx="8778240" cy="3840480"/>
          </a:xfrm>
          <a:prstGeom prst="rect">
            <a:avLst/>
          </a:prstGeom>
          <a:solidFill>
            <a:srgbClr val="F7F8FC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8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22</a:t>
            </a:r>
          </a:p>
        </p:txBody>
      </p:sp>
      <p:sp>
        <p:nvSpPr>
          <p:cNvPr id="10" name="Kicker"/>
          <p:cNvSpPr txBox="1"/>
          <p:nvPr/>
        </p:nvSpPr>
        <p:spPr>
          <a:xfrm>
            <a:off x="365760" y="859536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6E7F"/>
                </a:solidFill>
                <a:latin typeface="Calibri"/>
              </a:rPr>
              <a:t>IN SUMMARY</a:t>
            </a:r>
          </a:p>
        </p:txBody>
      </p:sp>
      <p:sp>
        <p:nvSpPr>
          <p:cNvPr id="11" name="Card"/>
          <p:cNvSpPr/>
          <p:nvPr/>
        </p:nvSpPr>
        <p:spPr>
          <a:xfrm>
            <a:off x="365760" y="1069848"/>
            <a:ext cx="5120640" cy="2514600"/>
          </a:xfrm>
          <a:prstGeom prst="rect">
            <a:avLst/>
          </a:prstGeom>
          <a:solidFill>
            <a:srgbClr val="EAF2FA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Card Header"/>
          <p:cNvSpPr/>
          <p:nvPr/>
        </p:nvSpPr>
        <p:spPr>
          <a:xfrm>
            <a:off x="365760" y="1069848"/>
            <a:ext cx="5120640" cy="274320"/>
          </a:xfrm>
          <a:prstGeom prst="rect">
            <a:avLst/>
          </a:prstGeom>
          <a:solidFill>
            <a:srgbClr val="00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Card Title"/>
          <p:cNvSpPr txBox="1"/>
          <p:nvPr/>
        </p:nvSpPr>
        <p:spPr>
          <a:xfrm>
            <a:off x="457200" y="1069848"/>
            <a:ext cx="493775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14" name="Card Body"/>
          <p:cNvSpPr txBox="1"/>
          <p:nvPr/>
        </p:nvSpPr>
        <p:spPr>
          <a:xfrm>
            <a:off x="475488" y="1417320"/>
            <a:ext cx="4901183" cy="13696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spcAft>
                <a:spcPts val="300"/>
              </a:spcAft>
            </a:pPr>
            <a:r>
              <a:rPr sz="1200" b="0" i="0" dirty="0">
                <a:solidFill>
                  <a:srgbClr val="1F2937"/>
                </a:solidFill>
                <a:latin typeface="Calibri"/>
              </a:rPr>
              <a:t>The proposed system integrates IoT, AI, OCR and a web dashboard into one healthcare management solution.</a:t>
            </a:r>
          </a:p>
          <a:p>
            <a:pPr algn="just">
              <a:spcAft>
                <a:spcPts val="300"/>
              </a:spcAft>
            </a:pPr>
            <a:r>
              <a:rPr sz="1200" b="0" i="0" dirty="0">
                <a:solidFill>
                  <a:srgbClr val="1F2937"/>
                </a:solidFill>
                <a:latin typeface="Calibri"/>
              </a:rPr>
              <a:t>The IoT prototype automates reminders and scheduled dispensing using an ESP32, a servo-driven six-slot carousel with two gates, NTP-based timing, IR hand detection and a web dashboard.</a:t>
            </a:r>
          </a:p>
          <a:p>
            <a:pPr algn="just">
              <a:spcAft>
                <a:spcPts val="300"/>
              </a:spcAft>
            </a:pPr>
            <a:r>
              <a:rPr sz="1200" b="0" i="0" dirty="0">
                <a:solidFill>
                  <a:srgbClr val="1F2937"/>
                </a:solidFill>
                <a:latin typeface="Calibri"/>
              </a:rPr>
              <a:t>RTC and Telegram alerts, together with the OCR/AI layer, will connect patients, doctors, family, nurses and CHOs for timely intervention.</a:t>
            </a:r>
          </a:p>
        </p:txBody>
      </p:sp>
      <p:sp>
        <p:nvSpPr>
          <p:cNvPr id="15" name="Takeaway"/>
          <p:cNvSpPr/>
          <p:nvPr/>
        </p:nvSpPr>
        <p:spPr>
          <a:xfrm>
            <a:off x="5669280" y="1069848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79008" y="1069848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E4E79"/>
                </a:solidFill>
                <a:latin typeface="Calibri"/>
              </a:rPr>
              <a:t>Automated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Scheduled reminders and gated dispensing</a:t>
            </a:r>
          </a:p>
        </p:txBody>
      </p:sp>
      <p:sp>
        <p:nvSpPr>
          <p:cNvPr id="17" name="Takeaway"/>
          <p:cNvSpPr/>
          <p:nvPr/>
        </p:nvSpPr>
        <p:spPr>
          <a:xfrm>
            <a:off x="5669280" y="1709928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79008" y="1709928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E4E79"/>
                </a:solidFill>
                <a:latin typeface="Calibri"/>
              </a:rPr>
              <a:t>Connected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ESP32 and dashboard over HTTP / Wi-Fi</a:t>
            </a:r>
          </a:p>
        </p:txBody>
      </p:sp>
      <p:sp>
        <p:nvSpPr>
          <p:cNvPr id="19" name="Takeaway"/>
          <p:cNvSpPr/>
          <p:nvPr/>
        </p:nvSpPr>
        <p:spPr>
          <a:xfrm>
            <a:off x="5669280" y="2350008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79008" y="2350008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E4E79"/>
                </a:solidFill>
                <a:latin typeface="Calibri"/>
              </a:rPr>
              <a:t>Monitored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Pickup detection and status history</a:t>
            </a:r>
          </a:p>
        </p:txBody>
      </p:sp>
      <p:sp>
        <p:nvSpPr>
          <p:cNvPr id="21" name="Takeaway"/>
          <p:cNvSpPr/>
          <p:nvPr/>
        </p:nvSpPr>
        <p:spPr>
          <a:xfrm>
            <a:off x="5669280" y="2990087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79008" y="2990087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E4E79"/>
                </a:solidFill>
                <a:latin typeface="Calibri"/>
              </a:rPr>
              <a:t>Extensible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RTC, Telegram, OCR and AI next</a:t>
            </a:r>
          </a:p>
        </p:txBody>
      </p:sp>
      <p:sp>
        <p:nvSpPr>
          <p:cNvPr id="23" name="Impact Banner"/>
          <p:cNvSpPr/>
          <p:nvPr/>
        </p:nvSpPr>
        <p:spPr>
          <a:xfrm>
            <a:off x="365760" y="3749039"/>
            <a:ext cx="8412480" cy="82296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749039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0D060"/>
                </a:solidFill>
                <a:latin typeface="Calibri"/>
              </a:rPr>
              <a:t>OVERALL IMPACT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“From Medicine Reminder to Intelligent Disease Monitoring — One Integrated IoT Healthcare Platform.”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274320" y="5486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0D1F3C"/>
                </a:solidFill>
                <a:latin typeface="Times New Roman"/>
              </a:rPr>
              <a:t>References</a:t>
            </a:r>
          </a:p>
        </p:txBody>
      </p:sp>
      <p:sp>
        <p:nvSpPr>
          <p:cNvPr id="3" name="Title Rule"/>
          <p:cNvSpPr/>
          <p:nvPr/>
        </p:nvSpPr>
        <p:spPr>
          <a:xfrm>
            <a:off x="0" y="687628"/>
            <a:ext cx="914400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Content Panel"/>
          <p:cNvSpPr/>
          <p:nvPr/>
        </p:nvSpPr>
        <p:spPr>
          <a:xfrm>
            <a:off x="182880" y="804672"/>
            <a:ext cx="8778240" cy="3840480"/>
          </a:xfrm>
          <a:prstGeom prst="rect">
            <a:avLst/>
          </a:prstGeom>
          <a:solidFill>
            <a:srgbClr val="F7F8FC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Footer Rule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F7A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Footer Bar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Footer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73168"/>
            <a:ext cx="297180" cy="338328"/>
          </a:xfrm>
          <a:prstGeom prst="rect">
            <a:avLst/>
          </a:prstGeom>
        </p:spPr>
      </p:pic>
      <p:sp>
        <p:nvSpPr>
          <p:cNvPr id="8" name="Footer Text"/>
          <p:cNvSpPr txBox="1"/>
          <p:nvPr/>
        </p:nvSpPr>
        <p:spPr>
          <a:xfrm>
            <a:off x="566928" y="4754880"/>
            <a:ext cx="685800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Sanjivani COE</a:t>
            </a:r>
            <a:r>
              <a:rPr sz="800" b="0" i="0">
                <a:solidFill>
                  <a:srgbClr val="DCE9F5"/>
                </a:solidFill>
                <a:latin typeface="Calibri"/>
              </a:rPr>
              <a:t>   |   Department of Computer Engineering   |   IoT (MDCO321) Project   |   T.Y. B.Tech</a:t>
            </a:r>
          </a:p>
        </p:txBody>
      </p:sp>
      <p:sp>
        <p:nvSpPr>
          <p:cNvPr id="9" name="Page Number"/>
          <p:cNvSpPr txBox="1"/>
          <p:nvPr/>
        </p:nvSpPr>
        <p:spPr>
          <a:xfrm>
            <a:off x="8046720" y="4754880"/>
            <a:ext cx="868680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F0D060"/>
                </a:solidFill>
                <a:latin typeface="Calibri"/>
              </a:rPr>
              <a:t>23</a:t>
            </a:r>
          </a:p>
        </p:txBody>
      </p:sp>
      <p:sp>
        <p:nvSpPr>
          <p:cNvPr id="10" name="Reference Row"/>
          <p:cNvSpPr/>
          <p:nvPr/>
        </p:nvSpPr>
        <p:spPr>
          <a:xfrm>
            <a:off x="365760" y="914400"/>
            <a:ext cx="8412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Badge"/>
          <p:cNvSpPr/>
          <p:nvPr/>
        </p:nvSpPr>
        <p:spPr>
          <a:xfrm>
            <a:off x="457200" y="978408"/>
            <a:ext cx="274320" cy="274320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914400"/>
            <a:ext cx="7818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World Health Organization, “Noncommunicable diseases,” WHO Fact Sheet.</a:t>
            </a:r>
          </a:p>
        </p:txBody>
      </p:sp>
      <p:sp>
        <p:nvSpPr>
          <p:cNvPr id="13" name="Reference Row"/>
          <p:cNvSpPr/>
          <p:nvPr/>
        </p:nvSpPr>
        <p:spPr>
          <a:xfrm>
            <a:off x="365760" y="1371600"/>
            <a:ext cx="8412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Badge"/>
          <p:cNvSpPr/>
          <p:nvPr/>
        </p:nvSpPr>
        <p:spPr>
          <a:xfrm>
            <a:off x="457200" y="1435608"/>
            <a:ext cx="274320" cy="274320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371600"/>
            <a:ext cx="7818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World Health Organization, Adherence to Long-Term Therapies: Evidence for Action. Geneva: WHO, 2003.</a:t>
            </a:r>
          </a:p>
        </p:txBody>
      </p:sp>
      <p:sp>
        <p:nvSpPr>
          <p:cNvPr id="16" name="Reference Row"/>
          <p:cNvSpPr/>
          <p:nvPr/>
        </p:nvSpPr>
        <p:spPr>
          <a:xfrm>
            <a:off x="365760" y="1828800"/>
            <a:ext cx="84124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Badge"/>
          <p:cNvSpPr/>
          <p:nvPr/>
        </p:nvSpPr>
        <p:spPr>
          <a:xfrm>
            <a:off x="457200" y="2075688"/>
            <a:ext cx="274320" cy="274320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828800"/>
            <a:ext cx="781812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D. Z. I. Zainalabidin, F. Mohd Atan, Z. I. Abd Latiff, N. A. M. Zin and N. A. Ismail, “Pill Dispensing and Monitoring System with Biometric Access: An IoT-Based Approach for Medication Adherence,” J. Telecommun. Electron. Comput. Eng. (JTEC), vol. 18, no. 2, pp. 23–29, 2026, doi: 10.54554/jtec.2026.18.02.004.</a:t>
            </a:r>
          </a:p>
        </p:txBody>
      </p:sp>
      <p:sp>
        <p:nvSpPr>
          <p:cNvPr id="19" name="Reference Row"/>
          <p:cNvSpPr/>
          <p:nvPr/>
        </p:nvSpPr>
        <p:spPr>
          <a:xfrm>
            <a:off x="365760" y="2651760"/>
            <a:ext cx="84124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Badge"/>
          <p:cNvSpPr/>
          <p:nvPr/>
        </p:nvSpPr>
        <p:spPr>
          <a:xfrm>
            <a:off x="457200" y="2843784"/>
            <a:ext cx="274320" cy="274320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651760"/>
            <a:ext cx="78181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P. D. K. Radika, M. A. P. Putra and P. T. H. Permana, “Pengembangan Prototype Kotak Obat Otomatis Berbasis IoT untuk Pemantauan dan Pengingat Konsumsi Obat,” Jurnal Komtika, vol. 10, no. 1, 2026, doi: 10.31603/komtika.v10i1.16096.</a:t>
            </a:r>
          </a:p>
        </p:txBody>
      </p:sp>
      <p:sp>
        <p:nvSpPr>
          <p:cNvPr id="22" name="Reference Row"/>
          <p:cNvSpPr/>
          <p:nvPr/>
        </p:nvSpPr>
        <p:spPr>
          <a:xfrm>
            <a:off x="365760" y="3364991"/>
            <a:ext cx="84124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Badge"/>
          <p:cNvSpPr/>
          <p:nvPr/>
        </p:nvSpPr>
        <p:spPr>
          <a:xfrm>
            <a:off x="457200" y="3557015"/>
            <a:ext cx="274320" cy="274320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364991"/>
            <a:ext cx="78181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P. L. Charunetraa, S. Ganadharani, A. P. Malaharshana, T. Joshitha, M. Deepa and R. Rajaraja, “A Mobile IoT-Based Smart Pill Dispenser with Biometric Authentication,” 2025 Int. Conf. on Intelligent Innovations in Engineering and Technology (ICIIET), 2025, pp. 1–7.</a:t>
            </a:r>
          </a:p>
        </p:txBody>
      </p:sp>
      <p:sp>
        <p:nvSpPr>
          <p:cNvPr id="25" name="Reference Row"/>
          <p:cNvSpPr/>
          <p:nvPr/>
        </p:nvSpPr>
        <p:spPr>
          <a:xfrm>
            <a:off x="365760" y="4078224"/>
            <a:ext cx="84124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Badge"/>
          <p:cNvSpPr/>
          <p:nvPr/>
        </p:nvSpPr>
        <p:spPr>
          <a:xfrm>
            <a:off x="457200" y="4096512"/>
            <a:ext cx="274320" cy="274320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078224"/>
            <a:ext cx="7818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Espressif Systems, “ESP32 Series Datasheet.”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9"/>
          <p:cNvSpPr/>
          <p:nvPr/>
        </p:nvSpPr>
        <p:spPr>
          <a:xfrm>
            <a:off x="0" y="6858"/>
            <a:ext cx="9144000" cy="882396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006E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9"/>
          <p:cNvSpPr/>
          <p:nvPr/>
        </p:nvSpPr>
        <p:spPr>
          <a:xfrm>
            <a:off x="0" y="891540"/>
            <a:ext cx="9144000" cy="64008"/>
          </a:xfrm>
          <a:prstGeom prst="rect">
            <a:avLst/>
          </a:prstGeom>
          <a:solidFill>
            <a:srgbClr val="F7A600"/>
          </a:solidFill>
          <a:ln w="12700" cap="flat" cmpd="sng">
            <a:solidFill>
              <a:srgbClr val="F7A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6053328" y="3017520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9"/>
          <p:cNvSpPr/>
          <p:nvPr/>
        </p:nvSpPr>
        <p:spPr>
          <a:xfrm>
            <a:off x="-10246" y="4865912"/>
            <a:ext cx="9144000" cy="282328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006E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9"/>
          <p:cNvSpPr/>
          <p:nvPr/>
        </p:nvSpPr>
        <p:spPr>
          <a:xfrm>
            <a:off x="172634" y="4890036"/>
            <a:ext cx="8778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www.sanjivanicoe.org.in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 txBox="1">
            <a:spLocks noGrp="1"/>
          </p:cNvSpPr>
          <p:nvPr>
            <p:ph type="sldNum" idx="12"/>
          </p:nvPr>
        </p:nvSpPr>
        <p:spPr>
          <a:xfrm>
            <a:off x="8493674" y="4880964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sz="9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 txBox="1"/>
          <p:nvPr/>
        </p:nvSpPr>
        <p:spPr>
          <a:xfrm>
            <a:off x="1326432" y="2234198"/>
            <a:ext cx="647064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6000"/>
              <a:buFont typeface="Calibri"/>
              <a:buNone/>
            </a:pPr>
            <a:r>
              <a:rPr lang="en-US" sz="60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Thank You</a:t>
            </a:r>
            <a:endParaRPr sz="60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-10246" y="4847096"/>
            <a:ext cx="9144000" cy="25603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9"/>
          <p:cNvSpPr/>
          <p:nvPr/>
        </p:nvSpPr>
        <p:spPr>
          <a:xfrm>
            <a:off x="0" y="-7672"/>
            <a:ext cx="913375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Sanjivani College of Engineering, </a:t>
            </a:r>
            <a:r>
              <a:rPr lang="en-US" sz="24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Kopargaon</a:t>
            </a: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98" name="Google Shape;398;p19"/>
          <p:cNvSpPr/>
          <p:nvPr/>
        </p:nvSpPr>
        <p:spPr>
          <a:xfrm>
            <a:off x="-10246" y="441239"/>
            <a:ext cx="9133754" cy="4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DFE6"/>
              </a:buClr>
              <a:buSzPts val="1600"/>
              <a:buFont typeface="Calibri"/>
              <a:buNone/>
            </a:pPr>
            <a:r>
              <a:rPr lang="en-US" i="1" dirty="0">
                <a:solidFill>
                  <a:srgbClr val="B2DFE6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          (An Autonomous Institute, Affiliated to SPPU, Pune)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DFE6"/>
              </a:buClr>
              <a:buSzPts val="1800"/>
              <a:buFont typeface="Calibri"/>
              <a:buNone/>
            </a:pPr>
            <a:r>
              <a:rPr lang="en-US" sz="1600" i="1" dirty="0">
                <a:solidFill>
                  <a:srgbClr val="B2DFE6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Computer Engineering, NBA Tier-1 Accredited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399" name="Google Shape;399;p19" descr="C:\Users\Icon\Desktop\Reprt 1\COE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634" y="6858"/>
            <a:ext cx="713970" cy="897114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TextBox 399"/>
          <p:cNvSpPr txBox="1"/>
          <p:nvPr/>
        </p:nvSpPr>
        <p:spPr>
          <a:xfrm>
            <a:off x="1325880" y="3246120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1E4E79"/>
                </a:solidFill>
                <a:latin typeface="Times New Roman"/>
              </a:rPr>
              <a:t>Questions are welcome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1325880" y="3611880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4B5563"/>
                </a:solidFill>
                <a:latin typeface="Calibri"/>
              </a:rPr>
              <a:t>Guided by Prof. N.Y. Siddiqui  ·  Department of Computer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3542</Words>
  <Application>Microsoft Office PowerPoint</Application>
  <PresentationFormat>On-screen Show (16:9)</PresentationFormat>
  <Paragraphs>602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Vaishanvi Warkar</dc:creator>
  <cp:lastModifiedBy>Tejas Nere</cp:lastModifiedBy>
  <cp:revision>26</cp:revision>
  <dcterms:modified xsi:type="dcterms:W3CDTF">2026-10-30T07:04:18Z</dcterms:modified>
</cp:coreProperties>
</file>